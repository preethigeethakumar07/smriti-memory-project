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731520" y="1371600"/>
            <a:ext cx="457200" cy="91440"/>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8720" y="1371600"/>
            <a:ext cx="457200" cy="91440"/>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371600"/>
            <a:ext cx="457200" cy="91440"/>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91640"/>
            <a:ext cx="10515600" cy="1097280"/>
          </a:xfrm>
          <a:prstGeom prst="rect">
            <a:avLst/>
          </a:prstGeom>
          <a:noFill/>
        </p:spPr>
        <p:txBody>
          <a:bodyPr wrap="square" anchor="t" lIns="0" rIns="0" tIns="36576" bIns="36576">
            <a:spAutoFit/>
          </a:bodyPr>
          <a:lstStyle/>
          <a:p>
            <a:pPr algn="l"/>
            <a:r>
              <a:rPr sz="6600" b="1">
                <a:solidFill>
                  <a:srgbClr val="EEF2FA"/>
                </a:solidFill>
                <a:latin typeface="Segoe UI"/>
              </a:rPr>
              <a:t>Smriti</a:t>
            </a:r>
          </a:p>
        </p:txBody>
      </p:sp>
      <p:sp>
        <p:nvSpPr>
          <p:cNvPr id="6" name="TextBox 5"/>
          <p:cNvSpPr txBox="1"/>
          <p:nvPr/>
        </p:nvSpPr>
        <p:spPr>
          <a:xfrm>
            <a:off x="731520" y="2788920"/>
            <a:ext cx="10515600" cy="914400"/>
          </a:xfrm>
          <a:prstGeom prst="rect">
            <a:avLst/>
          </a:prstGeom>
          <a:noFill/>
        </p:spPr>
        <p:txBody>
          <a:bodyPr wrap="square" anchor="t" lIns="0" rIns="0" tIns="36576" bIns="36576">
            <a:spAutoFit/>
          </a:bodyPr>
          <a:lstStyle/>
          <a:p>
            <a:pPr algn="l"/>
            <a:r>
              <a:rPr sz="2400" b="0">
                <a:solidFill>
                  <a:srgbClr val="EEF2FA"/>
                </a:solidFill>
                <a:latin typeface="Segoe UI"/>
              </a:rPr>
              <a:t>A private visual memory that finds what you saw, and tells you when.</a:t>
            </a:r>
          </a:p>
        </p:txBody>
      </p:sp>
      <p:sp>
        <p:nvSpPr>
          <p:cNvPr id="7" name="TextBox 6"/>
          <p:cNvSpPr txBox="1"/>
          <p:nvPr/>
        </p:nvSpPr>
        <p:spPr>
          <a:xfrm>
            <a:off x="731520" y="3657600"/>
            <a:ext cx="10515600" cy="731520"/>
          </a:xfrm>
          <a:prstGeom prst="rect">
            <a:avLst/>
          </a:prstGeom>
          <a:noFill/>
        </p:spPr>
        <p:txBody>
          <a:bodyPr wrap="square" anchor="t" lIns="0" rIns="0" tIns="36576" bIns="36576">
            <a:spAutoFit/>
          </a:bodyPr>
          <a:lstStyle/>
          <a:p>
            <a:pPr algn="l"/>
            <a:r>
              <a:rPr sz="1500" b="0">
                <a:solidFill>
                  <a:srgbClr val="9AABC7"/>
                </a:solidFill>
                <a:latin typeface="Segoe UI"/>
              </a:rPr>
              <a:t>Ask in your own words. Get the picture and the exact time, from video and sound that never leave the phone.</a:t>
            </a:r>
          </a:p>
        </p:txBody>
      </p:sp>
      <p:sp>
        <p:nvSpPr>
          <p:cNvPr id="8" name="Rounded Rectangle 7"/>
          <p:cNvSpPr/>
          <p:nvPr/>
        </p:nvSpPr>
        <p:spPr>
          <a:xfrm>
            <a:off x="731520" y="4754880"/>
            <a:ext cx="1920240" cy="274320"/>
          </a:xfrm>
          <a:prstGeom prst="roundRect">
            <a:avLst>
              <a:gd name="adj" fmla="val 50000"/>
            </a:avLst>
          </a:prstGeom>
          <a:solidFill>
            <a:srgbClr val="3B8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EEF2FA"/>
                </a:solidFill>
                <a:latin typeface="Segoe UI"/>
              </a:rPr>
              <a:t>100% on-device</a:t>
            </a:r>
          </a:p>
        </p:txBody>
      </p:sp>
      <p:sp>
        <p:nvSpPr>
          <p:cNvPr id="9" name="Rounded Rectangle 8"/>
          <p:cNvSpPr/>
          <p:nvPr/>
        </p:nvSpPr>
        <p:spPr>
          <a:xfrm>
            <a:off x="2788920" y="4754880"/>
            <a:ext cx="2286000" cy="274320"/>
          </a:xfrm>
          <a:prstGeom prst="roundRect">
            <a:avLst>
              <a:gd name="adj" fmla="val 50000"/>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EEF2FA"/>
                </a:solidFill>
                <a:latin typeface="Segoe UI"/>
              </a:rPr>
              <a:t>Faces blurred before storage</a:t>
            </a:r>
          </a:p>
        </p:txBody>
      </p:sp>
      <p:sp>
        <p:nvSpPr>
          <p:cNvPr id="10" name="Rounded Rectangle 9"/>
          <p:cNvSpPr/>
          <p:nvPr/>
        </p:nvSpPr>
        <p:spPr>
          <a:xfrm>
            <a:off x="5212080" y="4754880"/>
            <a:ext cx="2377440" cy="274320"/>
          </a:xfrm>
          <a:prstGeom prst="roundRect">
            <a:avLst>
              <a:gd name="adj" fmla="val 50000"/>
            </a:avLst>
          </a:prstGeom>
          <a:solidFill>
            <a:srgbClr val="3B8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000" b="1">
                <a:solidFill>
                  <a:srgbClr val="EEF2FA"/>
                </a:solidFill>
                <a:latin typeface="Segoe UI"/>
              </a:rPr>
              <a:t>Gemma-4 + EmbeddingGemma-2</a:t>
            </a:r>
          </a:p>
        </p:txBody>
      </p:sp>
      <p:sp>
        <p:nvSpPr>
          <p:cNvPr id="11" name="TextBox 10"/>
          <p:cNvSpPr txBox="1"/>
          <p:nvPr/>
        </p:nvSpPr>
        <p:spPr>
          <a:xfrm>
            <a:off x="731520" y="5760720"/>
            <a:ext cx="10515600" cy="548640"/>
          </a:xfrm>
          <a:prstGeom prst="rect">
            <a:avLst/>
          </a:prstGeom>
          <a:noFill/>
        </p:spPr>
        <p:txBody>
          <a:bodyPr wrap="square" anchor="t" lIns="0" rIns="0" tIns="36576" bIns="36576">
            <a:spAutoFit/>
          </a:bodyPr>
          <a:lstStyle/>
          <a:p>
            <a:pPr algn="l"/>
            <a:r>
              <a:rPr sz="1200" b="0">
                <a:solidFill>
                  <a:srgbClr val="9AABC7"/>
                </a:solidFill>
                <a:latin typeface="Segoe UI"/>
              </a:rPr>
              <a:t>iQOO hackathon  |  Snapdragon 8 Elite Gen 5 (NPU + GPU)  |  Android app, version 1.6.3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THE PROBLEM</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People forget. Cameras record. Nobody can search.</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Hours of video exist, but finding one moment in it still means scrubbing through it by hand.</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2</a:t>
            </a:r>
          </a:p>
        </p:txBody>
      </p:sp>
      <p:sp>
        <p:nvSpPr>
          <p:cNvPr id="10" name="Rounded Rectangle 9"/>
          <p:cNvSpPr/>
          <p:nvPr/>
        </p:nvSpPr>
        <p:spPr>
          <a:xfrm>
            <a:off x="502920" y="1737360"/>
            <a:ext cx="3611880" cy="3291840"/>
          </a:xfrm>
          <a:prstGeom prst="roundRect">
            <a:avLst>
              <a:gd name="adj" fmla="val 8000"/>
            </a:avLst>
          </a:prstGeom>
          <a:solidFill>
            <a:srgbClr val="131D30"/>
          </a:solidFill>
          <a:ln w="19050">
            <a:solidFill>
              <a:srgbClr val="E5484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800" b="1">
                <a:solidFill>
                  <a:srgbClr val="EEF2FA"/>
                </a:solidFill>
                <a:latin typeface="Segoe UI"/>
              </a:rPr>
              <a:t>Memory loss is daily</a:t>
            </a:r>
          </a:p>
          <a:p>
            <a:pPr algn="l"/>
            <a:r>
              <a:rPr sz="600" b="0">
                <a:solidFill>
                  <a:srgbClr val="EEF2FA"/>
                </a:solidFill>
                <a:latin typeface="Segoe UI"/>
              </a:rPr>
              <a:t> </a:t>
            </a:r>
          </a:p>
          <a:p>
            <a:pPr algn="l"/>
            <a:r>
              <a:rPr sz="1300" b="0">
                <a:solidFill>
                  <a:srgbClr val="9AABC7"/>
                </a:solidFill>
                <a:latin typeface="Segoe UI"/>
              </a:rPr>
              <a:t>Where are my glasses? Did I take my pills? Who came to the door? For a person with Alzheimer's, these questions repeat many times a day and each one causes worry.</a:t>
            </a:r>
          </a:p>
        </p:txBody>
      </p:sp>
      <p:sp>
        <p:nvSpPr>
          <p:cNvPr id="11" name="Rounded Rectangle 10"/>
          <p:cNvSpPr/>
          <p:nvPr/>
        </p:nvSpPr>
        <p:spPr>
          <a:xfrm>
            <a:off x="4297680" y="1737360"/>
            <a:ext cx="3611880" cy="3291840"/>
          </a:xfrm>
          <a:prstGeom prst="roundRect">
            <a:avLst>
              <a:gd name="adj" fmla="val 8000"/>
            </a:avLst>
          </a:prstGeom>
          <a:solidFill>
            <a:srgbClr val="131D30"/>
          </a:solidFill>
          <a:ln w="1905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800" b="1">
                <a:solidFill>
                  <a:srgbClr val="EEF2FA"/>
                </a:solidFill>
                <a:latin typeface="Segoe UI"/>
              </a:rPr>
              <a:t>Home cameras are not searchable</a:t>
            </a:r>
          </a:p>
          <a:p>
            <a:pPr algn="l"/>
            <a:r>
              <a:rPr sz="600" b="0">
                <a:solidFill>
                  <a:srgbClr val="EEF2FA"/>
                </a:solidFill>
                <a:latin typeface="Segoe UI"/>
              </a:rPr>
              <a:t> </a:t>
            </a:r>
          </a:p>
          <a:p>
            <a:pPr algn="l"/>
            <a:r>
              <a:rPr sz="1300" b="0">
                <a:solidFill>
                  <a:srgbClr val="9AABC7"/>
                </a:solidFill>
                <a:latin typeface="Segoe UI"/>
              </a:rPr>
              <a:t>A camera in the house records everything, but to find "when did the parcel arrive" you scrub for an hour. Cloud search sends your home to someone else's server.</a:t>
            </a:r>
          </a:p>
        </p:txBody>
      </p:sp>
      <p:sp>
        <p:nvSpPr>
          <p:cNvPr id="12" name="Rounded Rectangle 11"/>
          <p:cNvSpPr/>
          <p:nvPr/>
        </p:nvSpPr>
        <p:spPr>
          <a:xfrm>
            <a:off x="8092440" y="1737360"/>
            <a:ext cx="3611880" cy="3291840"/>
          </a:xfrm>
          <a:prstGeom prst="roundRect">
            <a:avLst>
              <a:gd name="adj" fmla="val 8000"/>
            </a:avLst>
          </a:prstGeom>
          <a:solidFill>
            <a:srgbClr val="131D30"/>
          </a:solidFill>
          <a:ln w="1905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800" b="1">
                <a:solidFill>
                  <a:srgbClr val="EEF2FA"/>
                </a:solidFill>
                <a:latin typeface="Segoe UI"/>
              </a:rPr>
              <a:t>Privacy is the blocker</a:t>
            </a:r>
          </a:p>
          <a:p>
            <a:pPr algn="l"/>
            <a:r>
              <a:rPr sz="600" b="0">
                <a:solidFill>
                  <a:srgbClr val="EEF2FA"/>
                </a:solidFill>
                <a:latin typeface="Segoe UI"/>
              </a:rPr>
              <a:t> </a:t>
            </a:r>
          </a:p>
          <a:p>
            <a:pPr algn="l"/>
            <a:r>
              <a:rPr sz="1300" b="0">
                <a:solidFill>
                  <a:srgbClr val="9AABC7"/>
                </a:solidFill>
                <a:latin typeface="Segoe UI"/>
              </a:rPr>
              <a:t>Families will not stream a bedroom or a relative's face to the cloud. Anything that works here has to run on the device and keep faces out of storage.</a:t>
            </a:r>
          </a:p>
        </p:txBody>
      </p:sp>
      <p:sp>
        <p:nvSpPr>
          <p:cNvPr id="13" name="Rounded Rectangle 12"/>
          <p:cNvSpPr/>
          <p:nvPr/>
        </p:nvSpPr>
        <p:spPr>
          <a:xfrm>
            <a:off x="502920" y="5303520"/>
            <a:ext cx="11201400" cy="86868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EEF2FA"/>
                </a:solidFill>
                <a:latin typeface="Segoe UI"/>
              </a:rPr>
              <a:t>What people need is not more recording. They need to ask a question in plain words and get the moment back, with a picture and a time.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THE IDEA</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Smriti: ask a question, get the frame and the timestamp</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Camera and microphone feed a private memory on the phone. A question brings back the moment.</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3</a:t>
            </a:r>
          </a:p>
        </p:txBody>
      </p:sp>
      <p:sp>
        <p:nvSpPr>
          <p:cNvPr id="10" name="Rounded Rectangle 9"/>
          <p:cNvSpPr/>
          <p:nvPr/>
        </p:nvSpPr>
        <p:spPr>
          <a:xfrm>
            <a:off x="502920" y="1783080"/>
            <a:ext cx="2514600" cy="1920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3B8EEA"/>
                </a:solidFill>
                <a:latin typeface="Segoe UI"/>
              </a:rPr>
              <a:t>SEE and HEAR</a:t>
            </a:r>
          </a:p>
          <a:p>
            <a:pPr algn="l"/>
            <a:r>
              <a:rPr sz="500" b="0">
                <a:solidFill>
                  <a:srgbClr val="EEF2FA"/>
                </a:solidFill>
                <a:latin typeface="Segoe UI"/>
              </a:rPr>
              <a:t> </a:t>
            </a:r>
          </a:p>
          <a:p>
            <a:pPr algn="l"/>
            <a:r>
              <a:rPr sz="1300" b="0">
                <a:solidFill>
                  <a:srgbClr val="EEF2FA"/>
                </a:solidFill>
                <a:latin typeface="Segoe UI"/>
              </a:rPr>
              <a:t>Phone camera, glasses or a home camera, plus the microphone</a:t>
            </a:r>
          </a:p>
        </p:txBody>
      </p:sp>
      <p:cxnSp>
        <p:nvCxnSpPr>
          <p:cNvPr id="11" name="Connector 10"/>
          <p:cNvCxnSpPr/>
          <p:nvPr/>
        </p:nvCxnSpPr>
        <p:spPr>
          <a:xfrm>
            <a:off x="3044952" y="2743200"/>
            <a:ext cx="274320" cy="0"/>
          </a:xfrm>
          <a:prstGeom prst="line">
            <a:avLst/>
          </a:prstGeom>
          <a:ln w="25400">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37560" y="1783080"/>
            <a:ext cx="2514600" cy="1920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3B8EEA"/>
                </a:solidFill>
                <a:latin typeface="Segoe UI"/>
              </a:rPr>
              <a:t>REMEMBER</a:t>
            </a:r>
          </a:p>
          <a:p>
            <a:pPr algn="l"/>
            <a:r>
              <a:rPr sz="500" b="0">
                <a:solidFill>
                  <a:srgbClr val="EEF2FA"/>
                </a:solidFill>
                <a:latin typeface="Segoe UI"/>
              </a:rPr>
              <a:t> </a:t>
            </a:r>
          </a:p>
          <a:p>
            <a:pPr algn="l"/>
            <a:r>
              <a:rPr sz="1300" b="0">
                <a:solidFill>
                  <a:srgbClr val="EEF2FA"/>
                </a:solidFill>
                <a:latin typeface="Segoe UI"/>
              </a:rPr>
              <a:t>Each few seconds becomes a meaning vector, a blurred picture and a list of objects</a:t>
            </a:r>
          </a:p>
        </p:txBody>
      </p:sp>
      <p:cxnSp>
        <p:nvCxnSpPr>
          <p:cNvPr id="13" name="Connector 12"/>
          <p:cNvCxnSpPr/>
          <p:nvPr/>
        </p:nvCxnSpPr>
        <p:spPr>
          <a:xfrm>
            <a:off x="5879592" y="2743200"/>
            <a:ext cx="274320" cy="0"/>
          </a:xfrm>
          <a:prstGeom prst="line">
            <a:avLst/>
          </a:prstGeom>
          <a:ln w="25400">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172200" y="1783080"/>
            <a:ext cx="2514600" cy="1920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3B8EEA"/>
                </a:solidFill>
                <a:latin typeface="Segoe UI"/>
              </a:rPr>
              <a:t>ASK</a:t>
            </a:r>
          </a:p>
          <a:p>
            <a:pPr algn="l"/>
            <a:r>
              <a:rPr sz="500" b="0">
                <a:solidFill>
                  <a:srgbClr val="EEF2FA"/>
                </a:solidFill>
                <a:latin typeface="Segoe UI"/>
              </a:rPr>
              <a:t> </a:t>
            </a:r>
          </a:p>
          <a:p>
            <a:pPr algn="l"/>
            <a:r>
              <a:rPr sz="1300" b="0">
                <a:solidFill>
                  <a:srgbClr val="EEF2FA"/>
                </a:solidFill>
                <a:latin typeface="Segoe UI"/>
              </a:rPr>
              <a:t>Voice or text, in any language: "where did I leave my keys?"</a:t>
            </a:r>
          </a:p>
        </p:txBody>
      </p:sp>
      <p:cxnSp>
        <p:nvCxnSpPr>
          <p:cNvPr id="15" name="Connector 14"/>
          <p:cNvCxnSpPr/>
          <p:nvPr/>
        </p:nvCxnSpPr>
        <p:spPr>
          <a:xfrm>
            <a:off x="8714232" y="2743200"/>
            <a:ext cx="274320" cy="0"/>
          </a:xfrm>
          <a:prstGeom prst="line">
            <a:avLst/>
          </a:prstGeom>
          <a:ln w="25400">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006840" y="1783080"/>
            <a:ext cx="2514600" cy="1920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3B8EEA"/>
                </a:solidFill>
                <a:latin typeface="Segoe UI"/>
              </a:rPr>
              <a:t>ANSWER</a:t>
            </a:r>
          </a:p>
          <a:p>
            <a:pPr algn="l"/>
            <a:r>
              <a:rPr sz="500" b="0">
                <a:solidFill>
                  <a:srgbClr val="EEF2FA"/>
                </a:solidFill>
                <a:latin typeface="Segoe UI"/>
              </a:rPr>
              <a:t> </a:t>
            </a:r>
          </a:p>
          <a:p>
            <a:pPr algn="l"/>
            <a:r>
              <a:rPr sz="1300" b="0">
                <a:solidFill>
                  <a:srgbClr val="EEF2FA"/>
                </a:solidFill>
                <a:latin typeface="Segoe UI"/>
              </a:rPr>
              <a:t>A short reply, the best picture and a tappable time range</a:t>
            </a:r>
          </a:p>
        </p:txBody>
      </p:sp>
      <p:sp>
        <p:nvSpPr>
          <p:cNvPr id="17" name="Rounded Rectangle 16"/>
          <p:cNvSpPr/>
          <p:nvPr/>
        </p:nvSpPr>
        <p:spPr>
          <a:xfrm>
            <a:off x="502920" y="3931920"/>
            <a:ext cx="5532120" cy="109728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a:solidFill>
                  <a:srgbClr val="EEF2FA"/>
                </a:solidFill>
                <a:latin typeface="Segoe UI"/>
              </a:rPr>
              <a:t>Live answers</a:t>
            </a:r>
          </a:p>
          <a:p>
            <a:pPr algn="l"/>
            <a:r>
              <a:rPr sz="1200" b="0">
                <a:solidFill>
                  <a:srgbClr val="9AABC7"/>
                </a:solidFill>
                <a:latin typeface="Segoe UI"/>
              </a:rPr>
              <a:t>Point the camera and ask. Gemma-4 sees the frame and replies by voice, and you can interrupt it.</a:t>
            </a:r>
          </a:p>
        </p:txBody>
      </p:sp>
      <p:sp>
        <p:nvSpPr>
          <p:cNvPr id="18" name="Rounded Rectangle 17"/>
          <p:cNvSpPr/>
          <p:nvPr/>
        </p:nvSpPr>
        <p:spPr>
          <a:xfrm>
            <a:off x="6172200" y="3931920"/>
            <a:ext cx="5532120" cy="109728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a:solidFill>
                  <a:srgbClr val="EEF2FA"/>
                </a:solidFill>
                <a:latin typeface="Segoe UI"/>
              </a:rPr>
              <a:t>Search past video</a:t>
            </a:r>
          </a:p>
          <a:p>
            <a:pPr algn="l"/>
            <a:r>
              <a:rPr sz="1200" b="0">
                <a:solidFill>
                  <a:srgbClr val="9AABC7"/>
                </a:solidFill>
                <a:latin typeface="Segoe UI"/>
              </a:rPr>
              <a:t>Every camera session is saved as time windows. Ask about one session or all of them.</a:t>
            </a:r>
          </a:p>
        </p:txBody>
      </p:sp>
      <p:sp>
        <p:nvSpPr>
          <p:cNvPr id="19" name="Rounded Rectangle 18"/>
          <p:cNvSpPr/>
          <p:nvPr/>
        </p:nvSpPr>
        <p:spPr>
          <a:xfrm>
            <a:off x="502920" y="5166360"/>
            <a:ext cx="5532120" cy="109728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a:solidFill>
                  <a:srgbClr val="EEF2FA"/>
                </a:solidFill>
                <a:latin typeface="Segoe UI"/>
              </a:rPr>
              <a:t>Look for something</a:t>
            </a:r>
          </a:p>
          <a:p>
            <a:pPr algn="l"/>
            <a:r>
              <a:rPr sz="1200" b="0">
                <a:solidFill>
                  <a:srgbClr val="9AABC7"/>
                </a:solidFill>
                <a:latin typeface="Segoe UI"/>
              </a:rPr>
              <a:t>Ask first ("where are my pills"), then film. Smriti says "Found at 00:18" while you pan.</a:t>
            </a:r>
          </a:p>
        </p:txBody>
      </p:sp>
      <p:sp>
        <p:nvSpPr>
          <p:cNvPr id="20" name="Rounded Rectangle 19"/>
          <p:cNvSpPr/>
          <p:nvPr/>
        </p:nvSpPr>
        <p:spPr>
          <a:xfrm>
            <a:off x="6172200" y="5166360"/>
            <a:ext cx="5532120" cy="109728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a:solidFill>
                  <a:srgbClr val="EEF2FA"/>
                </a:solidFill>
                <a:latin typeface="Segoe UI"/>
              </a:rPr>
              <a:t>Do things</a:t>
            </a:r>
          </a:p>
          <a:p>
            <a:pPr algn="l"/>
            <a:r>
              <a:rPr sz="1200" b="0">
                <a:solidFill>
                  <a:srgbClr val="9AABC7"/>
                </a:solidFill>
                <a:latin typeface="Segoe UI"/>
              </a:rPr>
              <a:t>FunctionGemma runs phone actions: flashlight, timer, calendar, map, contacts, Wi-Fi settings.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USE CASES</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Two flagship use cases, one engine</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The same index answers both. Only the camera and the questions change.</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4</a:t>
            </a:r>
          </a:p>
        </p:txBody>
      </p:sp>
      <p:sp>
        <p:nvSpPr>
          <p:cNvPr id="10" name="Rounded Rectangle 9"/>
          <p:cNvSpPr/>
          <p:nvPr/>
        </p:nvSpPr>
        <p:spPr>
          <a:xfrm>
            <a:off x="502920" y="1691640"/>
            <a:ext cx="5532120" cy="4526280"/>
          </a:xfrm>
          <a:prstGeom prst="roundRect">
            <a:avLst>
              <a:gd name="adj" fmla="val 8000"/>
            </a:avLst>
          </a:prstGeom>
          <a:solidFill>
            <a:srgbClr val="131D30"/>
          </a:solidFill>
          <a:ln w="19050">
            <a:solidFill>
              <a:srgbClr val="E5484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900" b="1">
                <a:solidFill>
                  <a:srgbClr val="EEF2FA"/>
                </a:solidFill>
                <a:latin typeface="Segoe UI"/>
              </a:rPr>
              <a:t>Alzheimer's and memory care</a:t>
            </a:r>
          </a:p>
          <a:p>
            <a:pPr algn="l"/>
            <a:r>
              <a:rPr sz="600" b="0">
                <a:solidFill>
                  <a:srgbClr val="EEF2FA"/>
                </a:solidFill>
                <a:latin typeface="Segoe UI"/>
              </a:rPr>
              <a:t> </a:t>
            </a:r>
          </a:p>
          <a:p>
            <a:pPr algn="l"/>
            <a:r>
              <a:rPr sz="1300" b="0">
                <a:solidFill>
                  <a:srgbClr val="9AABC7"/>
                </a:solidFill>
                <a:latin typeface="Segoe UI"/>
              </a:rPr>
              <a:t>A calm memory aid on the person's own phone or glasses.</a:t>
            </a:r>
          </a:p>
          <a:p>
            <a:pPr algn="l"/>
            <a:r>
              <a:rPr sz="600" b="0">
                <a:solidFill>
                  <a:srgbClr val="EEF2FA"/>
                </a:solidFill>
                <a:latin typeface="Segoe UI"/>
              </a:rPr>
              <a:t> </a:t>
            </a:r>
          </a:p>
          <a:p>
            <a:pPr algn="l"/>
            <a:r>
              <a:rPr sz="1300" b="0">
                <a:solidFill>
                  <a:srgbClr val="EEF2FA"/>
                </a:solidFill>
                <a:latin typeface="Segoe UI"/>
              </a:rPr>
              <a:t>"Where are my glasses?"  The last picture of the glasses and the time.</a:t>
            </a:r>
          </a:p>
          <a:p>
            <a:pPr algn="l"/>
            <a:r>
              <a:rPr sz="1300" b="0">
                <a:solidFill>
                  <a:srgbClr val="EEF2FA"/>
                </a:solidFill>
                <a:latin typeface="Segoe UI"/>
              </a:rPr>
              <a:t>"Did I take my pills?"  The moment the pill box was opened.</a:t>
            </a:r>
          </a:p>
          <a:p>
            <a:pPr algn="l"/>
            <a:r>
              <a:rPr sz="1300" b="0">
                <a:solidFill>
                  <a:srgbClr val="EEF2FA"/>
                </a:solidFill>
                <a:latin typeface="Segoe UI"/>
              </a:rPr>
              <a:t>"What did I do this morning?"  A short summary with pictures.</a:t>
            </a:r>
          </a:p>
          <a:p>
            <a:pPr algn="l"/>
            <a:r>
              <a:rPr sz="1300" b="0">
                <a:solidFill>
                  <a:srgbClr val="EEF2FA"/>
                </a:solidFill>
                <a:latin typeface="Segoe UI"/>
              </a:rPr>
              <a:t>"Look for my keys."  Walk around the room, Smriti finds them.</a:t>
            </a:r>
          </a:p>
          <a:p>
            <a:pPr algn="l"/>
            <a:r>
              <a:rPr sz="600" b="0">
                <a:solidFill>
                  <a:srgbClr val="EEF2FA"/>
                </a:solidFill>
                <a:latin typeface="Segoe UI"/>
              </a:rPr>
              <a:t> </a:t>
            </a:r>
          </a:p>
          <a:p>
            <a:pPr algn="l"/>
            <a:r>
              <a:rPr sz="1200" b="0">
                <a:solidFill>
                  <a:srgbClr val="F2B84B"/>
                </a:solidFill>
                <a:latin typeface="Segoe UI"/>
              </a:rPr>
              <a:t>Voice first, large type, replies in the person's language. A memory aid, not a medical device.</a:t>
            </a:r>
          </a:p>
        </p:txBody>
      </p:sp>
      <p:sp>
        <p:nvSpPr>
          <p:cNvPr id="11" name="Rounded Rectangle 10"/>
          <p:cNvSpPr/>
          <p:nvPr/>
        </p:nvSpPr>
        <p:spPr>
          <a:xfrm>
            <a:off x="6172200" y="1691640"/>
            <a:ext cx="5532120" cy="4526280"/>
          </a:xfrm>
          <a:prstGeom prst="roundRect">
            <a:avLst>
              <a:gd name="adj" fmla="val 8000"/>
            </a:avLst>
          </a:prstGeom>
          <a:solidFill>
            <a:srgbClr val="131D30"/>
          </a:solidFill>
          <a:ln w="1905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900" b="1">
                <a:solidFill>
                  <a:srgbClr val="EEF2FA"/>
                </a:solidFill>
                <a:latin typeface="Segoe UI"/>
              </a:rPr>
              <a:t>Home camera feed search</a:t>
            </a:r>
          </a:p>
          <a:p>
            <a:pPr algn="l"/>
            <a:r>
              <a:rPr sz="600" b="0">
                <a:solidFill>
                  <a:srgbClr val="EEF2FA"/>
                </a:solidFill>
                <a:latin typeface="Segoe UI"/>
              </a:rPr>
              <a:t> </a:t>
            </a:r>
          </a:p>
          <a:p>
            <a:pPr algn="l"/>
            <a:r>
              <a:rPr sz="1300" b="0">
                <a:solidFill>
                  <a:srgbClr val="9AABC7"/>
                </a:solidFill>
                <a:latin typeface="Segoe UI"/>
              </a:rPr>
              <a:t>A camera in your home. You want to find something. Search the feed and get the timestamp in real time.</a:t>
            </a:r>
          </a:p>
          <a:p>
            <a:pPr algn="l"/>
            <a:r>
              <a:rPr sz="600" b="0">
                <a:solidFill>
                  <a:srgbClr val="EEF2FA"/>
                </a:solidFill>
                <a:latin typeface="Segoe UI"/>
              </a:rPr>
              <a:t> </a:t>
            </a:r>
          </a:p>
          <a:p>
            <a:pPr algn="l"/>
            <a:r>
              <a:rPr sz="1300" b="0">
                <a:solidFill>
                  <a:srgbClr val="EEF2FA"/>
                </a:solidFill>
                <a:latin typeface="Segoe UI"/>
              </a:rPr>
              <a:t>"When did the delivery arrive?"  Timestamp and frame from the front door.</a:t>
            </a:r>
          </a:p>
          <a:p>
            <a:pPr algn="l"/>
            <a:r>
              <a:rPr sz="1300" b="0">
                <a:solidFill>
                  <a:srgbClr val="EEF2FA"/>
                </a:solidFill>
                <a:latin typeface="Segoe UI"/>
              </a:rPr>
              <a:t>"Did anyone enter the kitchen after 6?"  Matching time ranges.</a:t>
            </a:r>
          </a:p>
          <a:p>
            <a:pPr algn="l"/>
            <a:r>
              <a:rPr sz="1300" b="0">
                <a:solidFill>
                  <a:srgbClr val="EEF2FA"/>
                </a:solidFill>
                <a:latin typeface="Segoe UI"/>
              </a:rPr>
              <a:t>"Where is the red bag?"  The last frame that shows it.</a:t>
            </a:r>
          </a:p>
          <a:p>
            <a:pPr algn="l"/>
            <a:r>
              <a:rPr sz="1300" b="0">
                <a:solidFill>
                  <a:srgbClr val="EEF2FA"/>
                </a:solidFill>
                <a:latin typeface="Segoe UI"/>
              </a:rPr>
              <a:t>"Is the stove on?"  A live look, answered now.</a:t>
            </a:r>
          </a:p>
          <a:p>
            <a:pPr algn="l"/>
            <a:r>
              <a:rPr sz="600" b="0">
                <a:solidFill>
                  <a:srgbClr val="EEF2FA"/>
                </a:solidFill>
                <a:latin typeface="Segoe UI"/>
              </a:rPr>
              <a:t> </a:t>
            </a:r>
          </a:p>
          <a:p>
            <a:pPr algn="l"/>
            <a:r>
              <a:rPr sz="1200" b="0">
                <a:solidFill>
                  <a:srgbClr val="F2B84B"/>
                </a:solidFill>
                <a:latin typeface="Segoe UI"/>
              </a:rPr>
              <a:t>Video stays in the home. Only blurred stills and vectors are kept, so search is fast and private.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ARCHITECTURE</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System architecture</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Every box runs on the phone. Nothing is sent to a cloud.</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5</a:t>
            </a:r>
          </a:p>
        </p:txBody>
      </p:sp>
      <p:sp>
        <p:nvSpPr>
          <p:cNvPr id="10" name="Rounded Rectangle 9"/>
          <p:cNvSpPr/>
          <p:nvPr/>
        </p:nvSpPr>
        <p:spPr>
          <a:xfrm>
            <a:off x="502920" y="1600200"/>
            <a:ext cx="2057400" cy="384048"/>
          </a:xfrm>
          <a:prstGeom prst="roundRect">
            <a:avLst>
              <a:gd name="adj" fmla="val 20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EEF2FA"/>
                </a:solidFill>
                <a:latin typeface="Segoe UI"/>
              </a:rPr>
              <a:t>1  SOURCES</a:t>
            </a:r>
          </a:p>
        </p:txBody>
      </p:sp>
      <p:sp>
        <p:nvSpPr>
          <p:cNvPr id="11" name="Rounded Rectangle 10"/>
          <p:cNvSpPr/>
          <p:nvPr/>
        </p:nvSpPr>
        <p:spPr>
          <a:xfrm>
            <a:off x="502920" y="2103120"/>
            <a:ext cx="2057400" cy="978408"/>
          </a:xfrm>
          <a:prstGeom prst="roundRect">
            <a:avLst>
              <a:gd name="adj" fmla="val 8000"/>
            </a:avLst>
          </a:prstGeom>
          <a:solidFill>
            <a:srgbClr val="131D30"/>
          </a:solidFill>
          <a:ln w="12700">
            <a:solidFill>
              <a:srgbClr val="1E4F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Phone camera</a:t>
            </a:r>
          </a:p>
          <a:p>
            <a:pPr algn="l"/>
            <a:r>
              <a:rPr sz="1000" b="0">
                <a:solidFill>
                  <a:srgbClr val="9AABC7"/>
                </a:solidFill>
                <a:latin typeface="Segoe UI"/>
              </a:rPr>
              <a:t>CameraX, back camera</a:t>
            </a:r>
          </a:p>
        </p:txBody>
      </p:sp>
      <p:sp>
        <p:nvSpPr>
          <p:cNvPr id="12" name="Rounded Rectangle 11"/>
          <p:cNvSpPr/>
          <p:nvPr/>
        </p:nvSpPr>
        <p:spPr>
          <a:xfrm>
            <a:off x="502920" y="3200400"/>
            <a:ext cx="2057400" cy="978408"/>
          </a:xfrm>
          <a:prstGeom prst="roundRect">
            <a:avLst>
              <a:gd name="adj" fmla="val 8000"/>
            </a:avLst>
          </a:prstGeom>
          <a:solidFill>
            <a:srgbClr val="131D30"/>
          </a:solidFill>
          <a:ln w="12700">
            <a:solidFill>
              <a:srgbClr val="1E4F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Glasses / home camera</a:t>
            </a:r>
          </a:p>
          <a:p>
            <a:pPr algn="l"/>
            <a:r>
              <a:rPr sz="1000" b="0">
                <a:solidFill>
                  <a:srgbClr val="9AABC7"/>
                </a:solidFill>
                <a:latin typeface="Segoe UI"/>
              </a:rPr>
              <a:t>JPEG snapshot over the local network</a:t>
            </a:r>
          </a:p>
        </p:txBody>
      </p:sp>
      <p:sp>
        <p:nvSpPr>
          <p:cNvPr id="13" name="Rounded Rectangle 12"/>
          <p:cNvSpPr/>
          <p:nvPr/>
        </p:nvSpPr>
        <p:spPr>
          <a:xfrm>
            <a:off x="502920" y="4297679"/>
            <a:ext cx="2057400" cy="978408"/>
          </a:xfrm>
          <a:prstGeom prst="roundRect">
            <a:avLst>
              <a:gd name="adj" fmla="val 8000"/>
            </a:avLst>
          </a:prstGeom>
          <a:solidFill>
            <a:srgbClr val="131D30"/>
          </a:solidFill>
          <a:ln w="12700">
            <a:solidFill>
              <a:srgbClr val="1E4F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Microphone</a:t>
            </a:r>
          </a:p>
          <a:p>
            <a:pPr algn="l"/>
            <a:r>
              <a:rPr sz="1000" b="0">
                <a:solidFill>
                  <a:srgbClr val="9AABC7"/>
                </a:solidFill>
                <a:latin typeface="Segoe UI"/>
              </a:rPr>
              <a:t>Own capture stream, voice activity, echo guard</a:t>
            </a:r>
          </a:p>
        </p:txBody>
      </p:sp>
      <p:cxnSp>
        <p:nvCxnSpPr>
          <p:cNvPr id="14" name="Connector 13"/>
          <p:cNvCxnSpPr/>
          <p:nvPr/>
        </p:nvCxnSpPr>
        <p:spPr>
          <a:xfrm>
            <a:off x="2569463" y="3566160"/>
            <a:ext cx="210313" cy="0"/>
          </a:xfrm>
          <a:prstGeom prst="line">
            <a:avLst/>
          </a:prstGeom>
          <a:ln w="25400">
            <a:solidFill>
              <a:srgbClr val="9AABC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88920" y="1600200"/>
            <a:ext cx="2057400" cy="384048"/>
          </a:xfrm>
          <a:prstGeom prst="roundRect">
            <a:avLst>
              <a:gd name="adj" fmla="val 20000"/>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EEF2FA"/>
                </a:solidFill>
                <a:latin typeface="Segoe UI"/>
              </a:rPr>
              <a:t>2  PRIVACY GATE</a:t>
            </a:r>
          </a:p>
        </p:txBody>
      </p:sp>
      <p:sp>
        <p:nvSpPr>
          <p:cNvPr id="16" name="Rounded Rectangle 15"/>
          <p:cNvSpPr/>
          <p:nvPr/>
        </p:nvSpPr>
        <p:spPr>
          <a:xfrm>
            <a:off x="2788920" y="2103120"/>
            <a:ext cx="2057400" cy="978408"/>
          </a:xfrm>
          <a:prstGeom prst="roundRect">
            <a:avLst>
              <a:gd name="adj" fmla="val 8000"/>
            </a:avLst>
          </a:prstGeom>
          <a:solidFill>
            <a:srgbClr val="131D30"/>
          </a:solidFill>
          <a:ln w="12700">
            <a:solidFill>
              <a:srgbClr val="E5484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Frame gate</a:t>
            </a:r>
          </a:p>
          <a:p>
            <a:pPr algn="l"/>
            <a:r>
              <a:rPr sz="1000" b="0">
                <a:solidFill>
                  <a:srgbClr val="9AABC7"/>
                </a:solidFill>
                <a:latin typeface="Segoe UI"/>
              </a:rPr>
              <a:t>Skips unchanged frames</a:t>
            </a:r>
          </a:p>
        </p:txBody>
      </p:sp>
      <p:sp>
        <p:nvSpPr>
          <p:cNvPr id="17" name="Rounded Rectangle 16"/>
          <p:cNvSpPr/>
          <p:nvPr/>
        </p:nvSpPr>
        <p:spPr>
          <a:xfrm>
            <a:off x="2788920" y="3200400"/>
            <a:ext cx="2057400" cy="978408"/>
          </a:xfrm>
          <a:prstGeom prst="roundRect">
            <a:avLst>
              <a:gd name="adj" fmla="val 8000"/>
            </a:avLst>
          </a:prstGeom>
          <a:solidFill>
            <a:srgbClr val="131D30"/>
          </a:solidFill>
          <a:ln w="12700">
            <a:solidFill>
              <a:srgbClr val="E5484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Face redactor</a:t>
            </a:r>
          </a:p>
          <a:p>
            <a:pPr algn="l"/>
            <a:r>
              <a:rPr sz="1000" b="0">
                <a:solidFill>
                  <a:srgbClr val="9AABC7"/>
                </a:solidFill>
                <a:latin typeface="Segoe UI"/>
              </a:rPr>
              <a:t>Faces blurred before any storage</a:t>
            </a:r>
          </a:p>
        </p:txBody>
      </p:sp>
      <p:sp>
        <p:nvSpPr>
          <p:cNvPr id="18" name="Rounded Rectangle 17"/>
          <p:cNvSpPr/>
          <p:nvPr/>
        </p:nvSpPr>
        <p:spPr>
          <a:xfrm>
            <a:off x="2788920" y="4297679"/>
            <a:ext cx="2057400" cy="978408"/>
          </a:xfrm>
          <a:prstGeom prst="roundRect">
            <a:avLst>
              <a:gd name="adj" fmla="val 8000"/>
            </a:avLst>
          </a:prstGeom>
          <a:solidFill>
            <a:srgbClr val="131D30"/>
          </a:solidFill>
          <a:ln w="12700">
            <a:solidFill>
              <a:srgbClr val="E5484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Sound handling</a:t>
            </a:r>
          </a:p>
          <a:p>
            <a:pPr algn="l"/>
            <a:r>
              <a:rPr sz="1000" b="0">
                <a:solidFill>
                  <a:srgbClr val="9AABC7"/>
                </a:solidFill>
                <a:latin typeface="Segoe UI"/>
              </a:rPr>
              <a:t>Heard, embedded, then discarded</a:t>
            </a:r>
          </a:p>
        </p:txBody>
      </p:sp>
      <p:cxnSp>
        <p:nvCxnSpPr>
          <p:cNvPr id="19" name="Connector 18"/>
          <p:cNvCxnSpPr/>
          <p:nvPr/>
        </p:nvCxnSpPr>
        <p:spPr>
          <a:xfrm>
            <a:off x="4855464" y="3566160"/>
            <a:ext cx="210312" cy="0"/>
          </a:xfrm>
          <a:prstGeom prst="line">
            <a:avLst/>
          </a:prstGeom>
          <a:ln w="25400">
            <a:solidFill>
              <a:srgbClr val="9AABC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74920" y="1600200"/>
            <a:ext cx="2057400" cy="384048"/>
          </a:xfrm>
          <a:prstGeom prst="roundRect">
            <a:avLst>
              <a:gd name="adj" fmla="val 20000"/>
            </a:avLst>
          </a:prstGeom>
          <a:solidFill>
            <a:srgbClr val="3B8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EEF2FA"/>
                </a:solidFill>
                <a:latin typeface="Segoe UI"/>
              </a:rPr>
              <a:t>3  ON-DEVICE AI</a:t>
            </a:r>
          </a:p>
        </p:txBody>
      </p:sp>
      <p:sp>
        <p:nvSpPr>
          <p:cNvPr id="21" name="Rounded Rectangle 20"/>
          <p:cNvSpPr/>
          <p:nvPr/>
        </p:nvSpPr>
        <p:spPr>
          <a:xfrm>
            <a:off x="5074920" y="2103120"/>
            <a:ext cx="2057400" cy="978408"/>
          </a:xfrm>
          <a:prstGeom prst="roundRect">
            <a:avLst>
              <a:gd name="adj" fmla="val 8000"/>
            </a:avLst>
          </a:prstGeom>
          <a:solidFill>
            <a:srgbClr val="131D30"/>
          </a:solidFill>
          <a:ln w="1270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EmbeddingGemma-2</a:t>
            </a:r>
          </a:p>
          <a:p>
            <a:pPr algn="l"/>
            <a:r>
              <a:rPr sz="1000" b="0">
                <a:solidFill>
                  <a:srgbClr val="9AABC7"/>
                </a:solidFill>
                <a:latin typeface="Segoe UI"/>
              </a:rPr>
              <a:t>NPU text, GPU image, audio: 768-d vectors</a:t>
            </a:r>
          </a:p>
        </p:txBody>
      </p:sp>
      <p:sp>
        <p:nvSpPr>
          <p:cNvPr id="22" name="Rounded Rectangle 21"/>
          <p:cNvSpPr/>
          <p:nvPr/>
        </p:nvSpPr>
        <p:spPr>
          <a:xfrm>
            <a:off x="5074920" y="3200400"/>
            <a:ext cx="2057400" cy="978408"/>
          </a:xfrm>
          <a:prstGeom prst="roundRect">
            <a:avLst>
              <a:gd name="adj" fmla="val 8000"/>
            </a:avLst>
          </a:prstGeom>
          <a:solidFill>
            <a:srgbClr val="131D30"/>
          </a:solidFill>
          <a:ln w="1270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Gemma-4 E2B</a:t>
            </a:r>
          </a:p>
          <a:p>
            <a:pPr algn="l"/>
            <a:r>
              <a:rPr sz="1000" b="0">
                <a:solidFill>
                  <a:srgbClr val="9AABC7"/>
                </a:solidFill>
                <a:latin typeface="Segoe UI"/>
              </a:rPr>
              <a:t>GPU: see, listen, translate, answer, list objects</a:t>
            </a:r>
          </a:p>
        </p:txBody>
      </p:sp>
      <p:sp>
        <p:nvSpPr>
          <p:cNvPr id="23" name="Rounded Rectangle 22"/>
          <p:cNvSpPr/>
          <p:nvPr/>
        </p:nvSpPr>
        <p:spPr>
          <a:xfrm>
            <a:off x="5074920" y="4297679"/>
            <a:ext cx="2057400" cy="978408"/>
          </a:xfrm>
          <a:prstGeom prst="roundRect">
            <a:avLst>
              <a:gd name="adj" fmla="val 8000"/>
            </a:avLst>
          </a:prstGeom>
          <a:solidFill>
            <a:srgbClr val="131D30"/>
          </a:solidFill>
          <a:ln w="1270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FunctionGemma 270M</a:t>
            </a:r>
          </a:p>
          <a:p>
            <a:pPr algn="l"/>
            <a:r>
              <a:rPr sz="1000" b="0">
                <a:solidFill>
                  <a:srgbClr val="9AABC7"/>
                </a:solidFill>
                <a:latin typeface="Segoe UI"/>
              </a:rPr>
              <a:t>Phone actions. EfficientDet + ML Kit detect</a:t>
            </a:r>
          </a:p>
        </p:txBody>
      </p:sp>
      <p:cxnSp>
        <p:nvCxnSpPr>
          <p:cNvPr id="24" name="Connector 23"/>
          <p:cNvCxnSpPr/>
          <p:nvPr/>
        </p:nvCxnSpPr>
        <p:spPr>
          <a:xfrm>
            <a:off x="7141464" y="3566160"/>
            <a:ext cx="210312" cy="0"/>
          </a:xfrm>
          <a:prstGeom prst="line">
            <a:avLst/>
          </a:prstGeom>
          <a:ln w="25400">
            <a:solidFill>
              <a:srgbClr val="9AABC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60920" y="1600200"/>
            <a:ext cx="2057400" cy="384048"/>
          </a:xfrm>
          <a:prstGeom prst="roundRect">
            <a:avLst>
              <a:gd name="adj" fmla="val 20000"/>
            </a:avLst>
          </a:prstGeom>
          <a:solidFill>
            <a:srgbClr val="3FBF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0A101C"/>
                </a:solidFill>
                <a:latin typeface="Segoe UI"/>
              </a:rPr>
              <a:t>4  MEMORY (LOCAL)</a:t>
            </a:r>
          </a:p>
        </p:txBody>
      </p:sp>
      <p:sp>
        <p:nvSpPr>
          <p:cNvPr id="26" name="Rounded Rectangle 25"/>
          <p:cNvSpPr/>
          <p:nvPr/>
        </p:nvSpPr>
        <p:spPr>
          <a:xfrm>
            <a:off x="7360920" y="2103120"/>
            <a:ext cx="2057400" cy="978408"/>
          </a:xfrm>
          <a:prstGeom prst="roundRect">
            <a:avLst>
              <a:gd name="adj" fmla="val 8000"/>
            </a:avLst>
          </a:prstGeom>
          <a:solidFill>
            <a:srgbClr val="131D30"/>
          </a:solidFill>
          <a:ln w="1270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Moments</a:t>
            </a:r>
          </a:p>
          <a:p>
            <a:pPr algn="l"/>
            <a:r>
              <a:rPr sz="1000" b="0">
                <a:solidFill>
                  <a:srgbClr val="9AABC7"/>
                </a:solidFill>
                <a:latin typeface="Segoe UI"/>
              </a:rPr>
              <a:t>Vector + blurred picture + object list + words heard</a:t>
            </a:r>
          </a:p>
        </p:txBody>
      </p:sp>
      <p:sp>
        <p:nvSpPr>
          <p:cNvPr id="27" name="Rounded Rectangle 26"/>
          <p:cNvSpPr/>
          <p:nvPr/>
        </p:nvSpPr>
        <p:spPr>
          <a:xfrm>
            <a:off x="7360920" y="3200400"/>
            <a:ext cx="2057400" cy="978408"/>
          </a:xfrm>
          <a:prstGeom prst="roundRect">
            <a:avLst>
              <a:gd name="adj" fmla="val 8000"/>
            </a:avLst>
          </a:prstGeom>
          <a:solidFill>
            <a:srgbClr val="131D30"/>
          </a:solidFill>
          <a:ln w="1270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Camera sessions</a:t>
            </a:r>
          </a:p>
          <a:p>
            <a:pPr algn="l"/>
            <a:r>
              <a:rPr sz="1000" b="0">
                <a:solidFill>
                  <a:srgbClr val="9AABC7"/>
                </a:solidFill>
                <a:latin typeface="Segoe UI"/>
              </a:rPr>
              <a:t>4 s windows with start and end time</a:t>
            </a:r>
          </a:p>
        </p:txBody>
      </p:sp>
      <p:sp>
        <p:nvSpPr>
          <p:cNvPr id="28" name="Rounded Rectangle 27"/>
          <p:cNvSpPr/>
          <p:nvPr/>
        </p:nvSpPr>
        <p:spPr>
          <a:xfrm>
            <a:off x="7360920" y="4297679"/>
            <a:ext cx="2057400" cy="978408"/>
          </a:xfrm>
          <a:prstGeom prst="roundRect">
            <a:avLst>
              <a:gd name="adj" fmla="val 8000"/>
            </a:avLst>
          </a:prstGeom>
          <a:solidFill>
            <a:srgbClr val="131D30"/>
          </a:solidFill>
          <a:ln w="1270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Notes, scenes, zones</a:t>
            </a:r>
          </a:p>
          <a:p>
            <a:pPr algn="l"/>
            <a:r>
              <a:rPr sz="1000" b="0">
                <a:solidFill>
                  <a:srgbClr val="9AABC7"/>
                </a:solidFill>
                <a:latin typeface="Segoe UI"/>
              </a:rPr>
              <a:t>Room database, private app folder</a:t>
            </a:r>
          </a:p>
        </p:txBody>
      </p:sp>
      <p:cxnSp>
        <p:nvCxnSpPr>
          <p:cNvPr id="29" name="Connector 28"/>
          <p:cNvCxnSpPr/>
          <p:nvPr/>
        </p:nvCxnSpPr>
        <p:spPr>
          <a:xfrm>
            <a:off x="9427464" y="3566160"/>
            <a:ext cx="210312" cy="0"/>
          </a:xfrm>
          <a:prstGeom prst="line">
            <a:avLst/>
          </a:prstGeom>
          <a:ln w="25400">
            <a:solidFill>
              <a:srgbClr val="9AABC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646920" y="1600200"/>
            <a:ext cx="2057400" cy="384048"/>
          </a:xfrm>
          <a:prstGeom prst="roundRect">
            <a:avLst>
              <a:gd name="adj" fmla="val 2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0A101C"/>
                </a:solidFill>
                <a:latin typeface="Segoe UI"/>
              </a:rPr>
              <a:t>5  ENGINE and OUTPUT</a:t>
            </a:r>
          </a:p>
        </p:txBody>
      </p:sp>
      <p:sp>
        <p:nvSpPr>
          <p:cNvPr id="31" name="Rounded Rectangle 30"/>
          <p:cNvSpPr/>
          <p:nvPr/>
        </p:nvSpPr>
        <p:spPr>
          <a:xfrm>
            <a:off x="9646920" y="2103120"/>
            <a:ext cx="2057400" cy="978408"/>
          </a:xfrm>
          <a:prstGeom prst="roundRect">
            <a:avLst>
              <a:gd name="adj" fmla="val 8000"/>
            </a:avLst>
          </a:prstGeom>
          <a:solidFill>
            <a:srgbClr val="131D30"/>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Intent router</a:t>
            </a:r>
          </a:p>
          <a:p>
            <a:pPr algn="l"/>
            <a:r>
              <a:rPr sz="1000" b="0">
                <a:solidFill>
                  <a:srgbClr val="9AABC7"/>
                </a:solidFill>
                <a:latin typeface="Segoe UI"/>
              </a:rPr>
              <a:t>Where, when, what happened, do this</a:t>
            </a:r>
          </a:p>
        </p:txBody>
      </p:sp>
      <p:sp>
        <p:nvSpPr>
          <p:cNvPr id="32" name="Rounded Rectangle 31"/>
          <p:cNvSpPr/>
          <p:nvPr/>
        </p:nvSpPr>
        <p:spPr>
          <a:xfrm>
            <a:off x="9646920" y="3200400"/>
            <a:ext cx="2057400" cy="978408"/>
          </a:xfrm>
          <a:prstGeom prst="roundRect">
            <a:avLst>
              <a:gd name="adj" fmla="val 8000"/>
            </a:avLst>
          </a:prstGeom>
          <a:solidFill>
            <a:srgbClr val="131D30"/>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Moment search</a:t>
            </a:r>
          </a:p>
          <a:p>
            <a:pPr algn="l"/>
            <a:r>
              <a:rPr sz="1000" b="0">
                <a:solidFill>
                  <a:srgbClr val="9AABC7"/>
                </a:solidFill>
                <a:latin typeface="Segoe UI"/>
              </a:rPr>
              <a:t>Retrieve, verify, merge into ranges</a:t>
            </a:r>
          </a:p>
        </p:txBody>
      </p:sp>
      <p:sp>
        <p:nvSpPr>
          <p:cNvPr id="33" name="Rounded Rectangle 32"/>
          <p:cNvSpPr/>
          <p:nvPr/>
        </p:nvSpPr>
        <p:spPr>
          <a:xfrm>
            <a:off x="9646920" y="4297679"/>
            <a:ext cx="2057400" cy="978408"/>
          </a:xfrm>
          <a:prstGeom prst="roundRect">
            <a:avLst>
              <a:gd name="adj" fmla="val 8000"/>
            </a:avLst>
          </a:prstGeom>
          <a:solidFill>
            <a:srgbClr val="131D30"/>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Answer</a:t>
            </a:r>
          </a:p>
          <a:p>
            <a:pPr algn="l"/>
            <a:r>
              <a:rPr sz="1000" b="0">
                <a:solidFill>
                  <a:srgbClr val="9AABC7"/>
                </a:solidFill>
                <a:latin typeface="Segoe UI"/>
              </a:rPr>
              <a:t>Voice, chat, Memory tab, dashboard</a:t>
            </a:r>
          </a:p>
        </p:txBody>
      </p:sp>
      <p:sp>
        <p:nvSpPr>
          <p:cNvPr id="34" name="Rounded Rectangle 33"/>
          <p:cNvSpPr/>
          <p:nvPr/>
        </p:nvSpPr>
        <p:spPr>
          <a:xfrm>
            <a:off x="502920" y="5760720"/>
            <a:ext cx="11201400" cy="50292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EEF2FA"/>
                </a:solidFill>
                <a:latin typeface="Segoe UI"/>
              </a:rPr>
              <a:t>Question path:  voice or text  &gt;  translate to English  &gt;  embed the question  &gt;  search Memory  &gt;  Gemma-4 verifies and answers  &gt;  picture + time range</a:t>
            </a:r>
          </a:p>
        </p:txBody>
      </p:sp>
      <p:sp>
        <p:nvSpPr>
          <p:cNvPr id="35" name="TextBox 34"/>
          <p:cNvSpPr txBox="1"/>
          <p:nvPr/>
        </p:nvSpPr>
        <p:spPr>
          <a:xfrm>
            <a:off x="502920" y="5440680"/>
            <a:ext cx="11155680" cy="228600"/>
          </a:xfrm>
          <a:prstGeom prst="rect">
            <a:avLst/>
          </a:prstGeom>
          <a:noFill/>
        </p:spPr>
        <p:txBody>
          <a:bodyPr wrap="square" anchor="t" lIns="0" rIns="0" tIns="36576" bIns="36576">
            <a:spAutoFit/>
          </a:bodyPr>
          <a:lstStyle/>
          <a:p>
            <a:pPr algn="l"/>
            <a:r>
              <a:rPr sz="1000" b="0">
                <a:solidFill>
                  <a:srgbClr val="9AABC7"/>
                </a:solidFill>
                <a:latin typeface="Segoe UI"/>
              </a:rPr>
              <a:t>Offline by design: an in-app network blocker keeps the app from using the internet.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FLOW 1: INGEST</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How a moment is remembered</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Runs every couple of seconds while the camera is on. A hot phone slows it down instead of stopping it.</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6</a:t>
            </a:r>
          </a:p>
        </p:txBody>
      </p:sp>
      <p:sp>
        <p:nvSpPr>
          <p:cNvPr id="10" name="Rounded Rectangle 9"/>
          <p:cNvSpPr/>
          <p:nvPr/>
        </p:nvSpPr>
        <p:spPr>
          <a:xfrm>
            <a:off x="502920" y="1737360"/>
            <a:ext cx="1737360" cy="1783080"/>
          </a:xfrm>
          <a:prstGeom prst="roundRect">
            <a:avLst>
              <a:gd name="adj" fmla="val 8000"/>
            </a:avLst>
          </a:prstGeom>
          <a:solidFill>
            <a:srgbClr val="131D30"/>
          </a:solidFill>
          <a:ln w="19050">
            <a:solidFill>
              <a:srgbClr val="1E4F9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EF2FA"/>
                </a:solidFill>
                <a:latin typeface="Segoe UI"/>
              </a:rPr>
              <a:t>Camera frame</a:t>
            </a:r>
          </a:p>
          <a:p>
            <a:pPr algn="l"/>
            <a:r>
              <a:rPr sz="400" b="0">
                <a:solidFill>
                  <a:srgbClr val="EEF2FA"/>
                </a:solidFill>
                <a:latin typeface="Segoe UI"/>
              </a:rPr>
              <a:t> </a:t>
            </a:r>
          </a:p>
          <a:p>
            <a:pPr algn="l"/>
            <a:r>
              <a:rPr sz="1250" b="0">
                <a:solidFill>
                  <a:srgbClr val="9AABC7"/>
                </a:solidFill>
                <a:latin typeface="Segoe UI"/>
              </a:rPr>
              <a:t>Back camera, about 2 s apart</a:t>
            </a:r>
          </a:p>
        </p:txBody>
      </p:sp>
      <p:cxnSp>
        <p:nvCxnSpPr>
          <p:cNvPr id="11" name="Connector 10"/>
          <p:cNvCxnSpPr/>
          <p:nvPr/>
        </p:nvCxnSpPr>
        <p:spPr>
          <a:xfrm>
            <a:off x="2249424" y="2651760"/>
            <a:ext cx="137160"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395728" y="1737360"/>
            <a:ext cx="1737360" cy="1783080"/>
          </a:xfrm>
          <a:prstGeom prst="roundRect">
            <a:avLst>
              <a:gd name="adj" fmla="val 8000"/>
            </a:avLst>
          </a:prstGeom>
          <a:solidFill>
            <a:srgbClr val="131D30"/>
          </a:solidFill>
          <a:ln w="19050">
            <a:solidFill>
              <a:srgbClr val="1E4F9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EF2FA"/>
                </a:solidFill>
                <a:latin typeface="Segoe UI"/>
              </a:rPr>
              <a:t>Blank check</a:t>
            </a:r>
          </a:p>
          <a:p>
            <a:pPr algn="l"/>
            <a:r>
              <a:rPr sz="400" b="0">
                <a:solidFill>
                  <a:srgbClr val="EEF2FA"/>
                </a:solidFill>
                <a:latin typeface="Segoe UI"/>
              </a:rPr>
              <a:t> </a:t>
            </a:r>
          </a:p>
          <a:p>
            <a:pPr algn="l"/>
            <a:r>
              <a:rPr sz="1250" b="0">
                <a:solidFill>
                  <a:srgbClr val="9AABC7"/>
                </a:solidFill>
                <a:latin typeface="Segoe UI"/>
              </a:rPr>
              <a:t>Skip a covered or black lens</a:t>
            </a:r>
          </a:p>
        </p:txBody>
      </p:sp>
      <p:cxnSp>
        <p:nvCxnSpPr>
          <p:cNvPr id="13" name="Connector 12"/>
          <p:cNvCxnSpPr/>
          <p:nvPr/>
        </p:nvCxnSpPr>
        <p:spPr>
          <a:xfrm>
            <a:off x="4142231" y="2651760"/>
            <a:ext cx="137161"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88536" y="1737360"/>
            <a:ext cx="1737360" cy="1783080"/>
          </a:xfrm>
          <a:prstGeom prst="roundRect">
            <a:avLst>
              <a:gd name="adj" fmla="val 8000"/>
            </a:avLst>
          </a:prstGeom>
          <a:solidFill>
            <a:srgbClr val="131D30"/>
          </a:solidFill>
          <a:ln w="19050">
            <a:solidFill>
              <a:srgbClr val="E5484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EF2FA"/>
                </a:solidFill>
                <a:latin typeface="Segoe UI"/>
              </a:rPr>
              <a:t>Blur faces</a:t>
            </a:r>
          </a:p>
          <a:p>
            <a:pPr algn="l"/>
            <a:r>
              <a:rPr sz="400" b="0">
                <a:solidFill>
                  <a:srgbClr val="EEF2FA"/>
                </a:solidFill>
                <a:latin typeface="Segoe UI"/>
              </a:rPr>
              <a:t> </a:t>
            </a:r>
          </a:p>
          <a:p>
            <a:pPr algn="l"/>
            <a:r>
              <a:rPr sz="1250" b="0">
                <a:solidFill>
                  <a:srgbClr val="9AABC7"/>
                </a:solidFill>
                <a:latin typeface="Segoe UI"/>
              </a:rPr>
              <a:t>Redactor, on the frame itself</a:t>
            </a:r>
          </a:p>
        </p:txBody>
      </p:sp>
      <p:cxnSp>
        <p:nvCxnSpPr>
          <p:cNvPr id="15" name="Connector 14"/>
          <p:cNvCxnSpPr/>
          <p:nvPr/>
        </p:nvCxnSpPr>
        <p:spPr>
          <a:xfrm>
            <a:off x="6035040" y="2651760"/>
            <a:ext cx="137160"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81343" y="1737360"/>
            <a:ext cx="1737360" cy="1783080"/>
          </a:xfrm>
          <a:prstGeom prst="roundRect">
            <a:avLst>
              <a:gd name="adj" fmla="val 8000"/>
            </a:avLst>
          </a:prstGeom>
          <a:solidFill>
            <a:srgbClr val="131D30"/>
          </a:solidFill>
          <a:ln w="1905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EF2FA"/>
                </a:solidFill>
                <a:latin typeface="Segoe UI"/>
              </a:rPr>
              <a:t>Embed</a:t>
            </a:r>
          </a:p>
          <a:p>
            <a:pPr algn="l"/>
            <a:r>
              <a:rPr sz="400" b="0">
                <a:solidFill>
                  <a:srgbClr val="EEF2FA"/>
                </a:solidFill>
                <a:latin typeface="Segoe UI"/>
              </a:rPr>
              <a:t> </a:t>
            </a:r>
          </a:p>
          <a:p>
            <a:pPr algn="l"/>
            <a:r>
              <a:rPr sz="1250" b="0">
                <a:solidFill>
                  <a:srgbClr val="9AABC7"/>
                </a:solidFill>
                <a:latin typeface="Segoe UI"/>
              </a:rPr>
              <a:t>EmbeddingGemma-2 turns picture + sound into a 768-d vector</a:t>
            </a:r>
          </a:p>
        </p:txBody>
      </p:sp>
      <p:cxnSp>
        <p:nvCxnSpPr>
          <p:cNvPr id="17" name="Connector 16"/>
          <p:cNvCxnSpPr/>
          <p:nvPr/>
        </p:nvCxnSpPr>
        <p:spPr>
          <a:xfrm>
            <a:off x="7927847" y="2651760"/>
            <a:ext cx="137160"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74152" y="1737360"/>
            <a:ext cx="1737360" cy="1783080"/>
          </a:xfrm>
          <a:prstGeom prst="roundRect">
            <a:avLst>
              <a:gd name="adj" fmla="val 8000"/>
            </a:avLst>
          </a:prstGeom>
          <a:solidFill>
            <a:srgbClr val="131D30"/>
          </a:solidFill>
          <a:ln w="1905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EF2FA"/>
                </a:solidFill>
                <a:latin typeface="Segoe UI"/>
              </a:rPr>
              <a:t>Skip repeats</a:t>
            </a:r>
          </a:p>
          <a:p>
            <a:pPr algn="l"/>
            <a:r>
              <a:rPr sz="400" b="0">
                <a:solidFill>
                  <a:srgbClr val="EEF2FA"/>
                </a:solidFill>
                <a:latin typeface="Segoe UI"/>
              </a:rPr>
              <a:t> </a:t>
            </a:r>
          </a:p>
          <a:p>
            <a:pPr algn="l"/>
            <a:r>
              <a:rPr sz="1250" b="0">
                <a:solidFill>
                  <a:srgbClr val="9AABC7"/>
                </a:solidFill>
                <a:latin typeface="Segoe UI"/>
              </a:rPr>
              <a:t>Same scene (cosine &gt; 0.99) skipped, with a heartbeat every 8 s</a:t>
            </a:r>
          </a:p>
        </p:txBody>
      </p:sp>
      <p:cxnSp>
        <p:nvCxnSpPr>
          <p:cNvPr id="19" name="Connector 18"/>
          <p:cNvCxnSpPr/>
          <p:nvPr/>
        </p:nvCxnSpPr>
        <p:spPr>
          <a:xfrm>
            <a:off x="9820656" y="2651760"/>
            <a:ext cx="137160"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966960" y="1737360"/>
            <a:ext cx="1737360" cy="1783080"/>
          </a:xfrm>
          <a:prstGeom prst="roundRect">
            <a:avLst>
              <a:gd name="adj" fmla="val 8000"/>
            </a:avLst>
          </a:prstGeom>
          <a:solidFill>
            <a:srgbClr val="131D30"/>
          </a:solidFill>
          <a:ln w="1905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EF2FA"/>
                </a:solidFill>
                <a:latin typeface="Segoe UI"/>
              </a:rPr>
              <a:t>Save</a:t>
            </a:r>
          </a:p>
          <a:p>
            <a:pPr algn="l"/>
            <a:r>
              <a:rPr sz="400" b="0">
                <a:solidFill>
                  <a:srgbClr val="EEF2FA"/>
                </a:solidFill>
                <a:latin typeface="Segoe UI"/>
              </a:rPr>
              <a:t> </a:t>
            </a:r>
          </a:p>
          <a:p>
            <a:pPr algn="l"/>
            <a:r>
              <a:rPr sz="1250" b="0">
                <a:solidFill>
                  <a:srgbClr val="9AABC7"/>
                </a:solidFill>
                <a:latin typeface="Segoe UI"/>
              </a:rPr>
              <a:t>Blurred 360 px picture + vector + time + place + words heard</a:t>
            </a:r>
          </a:p>
        </p:txBody>
      </p:sp>
      <p:sp>
        <p:nvSpPr>
          <p:cNvPr id="21" name="Rounded Rectangle 20"/>
          <p:cNvSpPr/>
          <p:nvPr/>
        </p:nvSpPr>
        <p:spPr>
          <a:xfrm>
            <a:off x="502920" y="3794760"/>
            <a:ext cx="5486400" cy="1051560"/>
          </a:xfrm>
          <a:prstGeom prst="roundRect">
            <a:avLst>
              <a:gd name="adj" fmla="val 8000"/>
            </a:avLst>
          </a:prstGeom>
          <a:solidFill>
            <a:srgbClr val="1A2740"/>
          </a:solidFill>
          <a:ln w="1270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Object inventory (background)</a:t>
            </a:r>
          </a:p>
          <a:p>
            <a:pPr algn="l"/>
            <a:r>
              <a:rPr sz="1100" b="0">
                <a:solidFill>
                  <a:srgbClr val="9AABC7"/>
                </a:solidFill>
                <a:latin typeface="Segoe UI"/>
              </a:rPr>
              <a:t>Gemma-4 writes a list of every object in the picture, only when it is free and the phone is not hot. It is stored with the moment and searched by name.</a:t>
            </a:r>
          </a:p>
        </p:txBody>
      </p:sp>
      <p:cxnSp>
        <p:nvCxnSpPr>
          <p:cNvPr id="22" name="Connector 21"/>
          <p:cNvCxnSpPr/>
          <p:nvPr/>
        </p:nvCxnSpPr>
        <p:spPr>
          <a:xfrm>
            <a:off x="3200400" y="3547872"/>
            <a:ext cx="0" cy="219456"/>
          </a:xfrm>
          <a:prstGeom prst="line">
            <a:avLst/>
          </a:prstGeom>
          <a:ln w="19050">
            <a:solidFill>
              <a:srgbClr val="3B8EE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172200" y="3794760"/>
            <a:ext cx="5532120" cy="1051560"/>
          </a:xfrm>
          <a:prstGeom prst="roundRect">
            <a:avLst>
              <a:gd name="adj" fmla="val 8000"/>
            </a:avLst>
          </a:prstGeom>
          <a:solidFill>
            <a:srgbClr val="1A2740"/>
          </a:solidFill>
          <a:ln w="1270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Camera sessions</a:t>
            </a:r>
          </a:p>
          <a:p>
            <a:pPr algn="l"/>
            <a:r>
              <a:rPr sz="1100" b="0">
                <a:solidFill>
                  <a:srgbClr val="9AABC7"/>
                </a:solidFill>
                <a:latin typeface="Segoe UI"/>
              </a:rPr>
              <a:t>Opening the camera starts a session. Closing it, or 60 s without frames, ends it. Under 15 s is dropped. 30 min per chapter. The moments become the session's timeline.</a:t>
            </a:r>
          </a:p>
        </p:txBody>
      </p:sp>
      <p:sp>
        <p:nvSpPr>
          <p:cNvPr id="24" name="Rounded Rectangle 23"/>
          <p:cNvSpPr/>
          <p:nvPr/>
        </p:nvSpPr>
        <p:spPr>
          <a:xfrm>
            <a:off x="502920" y="5120640"/>
            <a:ext cx="3611880" cy="1005840"/>
          </a:xfrm>
          <a:prstGeom prst="roundRect">
            <a:avLst>
              <a:gd name="adj" fmla="val 8000"/>
            </a:avLst>
          </a:prstGeom>
          <a:solidFill>
            <a:srgbClr val="131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600" b="1">
                <a:solidFill>
                  <a:srgbClr val="3B8EEA"/>
                </a:solidFill>
                <a:latin typeface="Segoe UI"/>
              </a:rPr>
              <a:t>~19 KB</a:t>
            </a:r>
          </a:p>
          <a:p>
            <a:pPr algn="ctr"/>
            <a:r>
              <a:rPr sz="1100" b="0">
                <a:solidFill>
                  <a:srgbClr val="9AABC7"/>
                </a:solidFill>
                <a:latin typeface="Segoe UI"/>
              </a:rPr>
              <a:t>per moment (16 KB picture + 3 KB vector)</a:t>
            </a:r>
          </a:p>
        </p:txBody>
      </p:sp>
      <p:sp>
        <p:nvSpPr>
          <p:cNvPr id="25" name="Rounded Rectangle 24"/>
          <p:cNvSpPr/>
          <p:nvPr/>
        </p:nvSpPr>
        <p:spPr>
          <a:xfrm>
            <a:off x="4297680" y="5120640"/>
            <a:ext cx="3611880" cy="1005840"/>
          </a:xfrm>
          <a:prstGeom prst="roundRect">
            <a:avLst>
              <a:gd name="adj" fmla="val 8000"/>
            </a:avLst>
          </a:prstGeom>
          <a:solidFill>
            <a:srgbClr val="131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600" b="1">
                <a:solidFill>
                  <a:srgbClr val="3B8EEA"/>
                </a:solidFill>
                <a:latin typeface="Segoe UI"/>
              </a:rPr>
              <a:t>6,000</a:t>
            </a:r>
          </a:p>
          <a:p>
            <a:pPr algn="ctr"/>
            <a:r>
              <a:rPr sz="1100" b="0">
                <a:solidFill>
                  <a:srgbClr val="9AABC7"/>
                </a:solidFill>
                <a:latin typeface="Segoe UI"/>
              </a:rPr>
              <a:t>moments kept, about 115 MB at most</a:t>
            </a:r>
          </a:p>
        </p:txBody>
      </p:sp>
      <p:sp>
        <p:nvSpPr>
          <p:cNvPr id="26" name="Rounded Rectangle 25"/>
          <p:cNvSpPr/>
          <p:nvPr/>
        </p:nvSpPr>
        <p:spPr>
          <a:xfrm>
            <a:off x="8092440" y="5120640"/>
            <a:ext cx="3611880" cy="1005840"/>
          </a:xfrm>
          <a:prstGeom prst="roundRect">
            <a:avLst>
              <a:gd name="adj" fmla="val 8000"/>
            </a:avLst>
          </a:prstGeom>
          <a:solidFill>
            <a:srgbClr val="131D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2600" b="1">
                <a:solidFill>
                  <a:srgbClr val="3B8EEA"/>
                </a:solidFill>
                <a:latin typeface="Segoe UI"/>
              </a:rPr>
              <a:t>0</a:t>
            </a:r>
          </a:p>
          <a:p>
            <a:pPr algn="ctr"/>
            <a:r>
              <a:rPr sz="1100" b="0">
                <a:solidFill>
                  <a:srgbClr val="9AABC7"/>
                </a:solidFill>
                <a:latin typeface="Segoe UI"/>
              </a:rPr>
              <a:t>raw frames written to storage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FLOW 2: SEARCH</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How a question finds the moment</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Fast vector search first, then a careful look by Gemma-4, so the answer is both quick and right.</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7</a:t>
            </a:r>
          </a:p>
        </p:txBody>
      </p:sp>
      <p:sp>
        <p:nvSpPr>
          <p:cNvPr id="10" name="Rounded Rectangle 9"/>
          <p:cNvSpPr/>
          <p:nvPr/>
        </p:nvSpPr>
        <p:spPr>
          <a:xfrm>
            <a:off x="502920" y="1691640"/>
            <a:ext cx="2606040" cy="1417320"/>
          </a:xfrm>
          <a:prstGeom prst="roundRect">
            <a:avLst>
              <a:gd name="adj" fmla="val 8000"/>
            </a:avLst>
          </a:prstGeom>
          <a:solidFill>
            <a:srgbClr val="131D30"/>
          </a:solidFill>
          <a:ln w="19050">
            <a:solidFill>
              <a:srgbClr val="1E4F9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EF2FA"/>
                </a:solidFill>
                <a:latin typeface="Segoe UI"/>
              </a:rPr>
              <a:t>Question</a:t>
            </a:r>
          </a:p>
          <a:p>
            <a:pPr algn="l"/>
            <a:r>
              <a:rPr sz="1250" b="0">
                <a:solidFill>
                  <a:srgbClr val="9AABC7"/>
                </a:solidFill>
                <a:latin typeface="Segoe UI"/>
              </a:rPr>
              <a:t>Voice or text, any language</a:t>
            </a:r>
          </a:p>
        </p:txBody>
      </p:sp>
      <p:cxnSp>
        <p:nvCxnSpPr>
          <p:cNvPr id="11" name="Connector 10"/>
          <p:cNvCxnSpPr/>
          <p:nvPr/>
        </p:nvCxnSpPr>
        <p:spPr>
          <a:xfrm>
            <a:off x="3118104" y="2377440"/>
            <a:ext cx="237744" cy="0"/>
          </a:xfrm>
          <a:prstGeom prst="line">
            <a:avLst/>
          </a:prstGeom>
          <a:ln w="25400">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64991" y="1691640"/>
            <a:ext cx="2606040" cy="1417320"/>
          </a:xfrm>
          <a:prstGeom prst="roundRect">
            <a:avLst>
              <a:gd name="adj" fmla="val 8000"/>
            </a:avLst>
          </a:prstGeom>
          <a:solidFill>
            <a:srgbClr val="131D30"/>
          </a:solidFill>
          <a:ln w="19050">
            <a:solidFill>
              <a:srgbClr val="1E4F9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EF2FA"/>
                </a:solidFill>
                <a:latin typeface="Segoe UI"/>
              </a:rPr>
              <a:t>Translate</a:t>
            </a:r>
          </a:p>
          <a:p>
            <a:pPr algn="l"/>
            <a:r>
              <a:rPr sz="1250" b="0">
                <a:solidFill>
                  <a:srgbClr val="9AABC7"/>
                </a:solidFill>
                <a:latin typeface="Segoe UI"/>
              </a:rPr>
              <a:t>Gemma-4 to English (answer goes back in your language)</a:t>
            </a:r>
          </a:p>
        </p:txBody>
      </p:sp>
      <p:cxnSp>
        <p:nvCxnSpPr>
          <p:cNvPr id="13" name="Connector 12"/>
          <p:cNvCxnSpPr/>
          <p:nvPr/>
        </p:nvCxnSpPr>
        <p:spPr>
          <a:xfrm>
            <a:off x="5980175" y="2377440"/>
            <a:ext cx="237744" cy="0"/>
          </a:xfrm>
          <a:prstGeom prst="line">
            <a:avLst/>
          </a:prstGeom>
          <a:ln w="25400">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27064" y="1691640"/>
            <a:ext cx="2606040" cy="1417320"/>
          </a:xfrm>
          <a:prstGeom prst="roundRect">
            <a:avLst>
              <a:gd name="adj" fmla="val 8000"/>
            </a:avLst>
          </a:prstGeom>
          <a:solidFill>
            <a:srgbClr val="131D30"/>
          </a:solidFill>
          <a:ln w="1905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EF2FA"/>
                </a:solidFill>
                <a:latin typeface="Segoe UI"/>
              </a:rPr>
              <a:t>Embed</a:t>
            </a:r>
          </a:p>
          <a:p>
            <a:pPr algn="l"/>
            <a:r>
              <a:rPr sz="1250" b="0">
                <a:solidFill>
                  <a:srgbClr val="9AABC7"/>
                </a:solidFill>
                <a:latin typeface="Segoe UI"/>
              </a:rPr>
              <a:t>EmbeddingGemma-2 turns the question into a vector</a:t>
            </a:r>
          </a:p>
        </p:txBody>
      </p:sp>
      <p:cxnSp>
        <p:nvCxnSpPr>
          <p:cNvPr id="15" name="Connector 14"/>
          <p:cNvCxnSpPr/>
          <p:nvPr/>
        </p:nvCxnSpPr>
        <p:spPr>
          <a:xfrm>
            <a:off x="8842248" y="2377440"/>
            <a:ext cx="237744" cy="0"/>
          </a:xfrm>
          <a:prstGeom prst="line">
            <a:avLst/>
          </a:prstGeom>
          <a:ln w="25400">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089136" y="1691640"/>
            <a:ext cx="2606040" cy="1417320"/>
          </a:xfrm>
          <a:prstGeom prst="roundRect">
            <a:avLst>
              <a:gd name="adj" fmla="val 8000"/>
            </a:avLst>
          </a:prstGeom>
          <a:solidFill>
            <a:srgbClr val="131D30"/>
          </a:solidFill>
          <a:ln w="1905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EF2FA"/>
                </a:solidFill>
                <a:latin typeface="Segoe UI"/>
              </a:rPr>
              <a:t>Score all windows</a:t>
            </a:r>
          </a:p>
          <a:p>
            <a:pPr algn="l"/>
            <a:r>
              <a:rPr sz="1250" b="0">
                <a:solidFill>
                  <a:srgbClr val="9AABC7"/>
                </a:solidFill>
                <a:latin typeface="Segoe UI"/>
              </a:rPr>
              <a:t>Cosine against every moment, plus a match on the stored object names</a:t>
            </a:r>
          </a:p>
        </p:txBody>
      </p:sp>
      <p:cxnSp>
        <p:nvCxnSpPr>
          <p:cNvPr id="17" name="Connector 16"/>
          <p:cNvCxnSpPr/>
          <p:nvPr/>
        </p:nvCxnSpPr>
        <p:spPr>
          <a:xfrm>
            <a:off x="10972800" y="3136392"/>
            <a:ext cx="0" cy="384048"/>
          </a:xfrm>
          <a:prstGeom prst="line">
            <a:avLst/>
          </a:prstGeom>
          <a:ln w="25400">
            <a:solidFill>
              <a:srgbClr val="9AABC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737360" y="3520440"/>
            <a:ext cx="9235440" cy="0"/>
          </a:xfrm>
          <a:prstGeom prst="line">
            <a:avLst/>
          </a:prstGeom>
          <a:ln w="15875">
            <a:solidFill>
              <a:srgbClr val="9AABC7"/>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737360" y="3520440"/>
            <a:ext cx="0" cy="320040"/>
          </a:xfrm>
          <a:prstGeom prst="line">
            <a:avLst/>
          </a:prstGeom>
          <a:ln w="25400">
            <a:solidFill>
              <a:srgbClr val="9AABC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2920" y="3886200"/>
            <a:ext cx="2606040" cy="1417320"/>
          </a:xfrm>
          <a:prstGeom prst="roundRect">
            <a:avLst>
              <a:gd name="adj" fmla="val 8000"/>
            </a:avLst>
          </a:prstGeom>
          <a:solidFill>
            <a:srgbClr val="131D30"/>
          </a:solidFill>
          <a:ln w="1905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EF2FA"/>
                </a:solidFill>
                <a:latin typeface="Segoe UI"/>
              </a:rPr>
              <a:t>Loose cut</a:t>
            </a:r>
          </a:p>
          <a:p>
            <a:pPr algn="l"/>
            <a:r>
              <a:rPr sz="1250" b="0">
                <a:solidFill>
                  <a:srgbClr val="9AABC7"/>
                </a:solidFill>
                <a:latin typeface="Segoe UI"/>
              </a:rPr>
              <a:t>Keep windows above the typical score (floor 0.28)</a:t>
            </a:r>
          </a:p>
        </p:txBody>
      </p:sp>
      <p:cxnSp>
        <p:nvCxnSpPr>
          <p:cNvPr id="21" name="Connector 20"/>
          <p:cNvCxnSpPr/>
          <p:nvPr/>
        </p:nvCxnSpPr>
        <p:spPr>
          <a:xfrm>
            <a:off x="3118104" y="4572000"/>
            <a:ext cx="237744" cy="0"/>
          </a:xfrm>
          <a:prstGeom prst="line">
            <a:avLst/>
          </a:prstGeom>
          <a:ln w="25400">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364991" y="3886200"/>
            <a:ext cx="2606040" cy="1417320"/>
          </a:xfrm>
          <a:prstGeom prst="roundRect">
            <a:avLst>
              <a:gd name="adj" fmla="val 8000"/>
            </a:avLst>
          </a:prstGeom>
          <a:solidFill>
            <a:srgbClr val="131D30"/>
          </a:solidFill>
          <a:ln w="1905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EF2FA"/>
                </a:solidFill>
                <a:latin typeface="Segoe UI"/>
              </a:rPr>
              <a:t>Verify</a:t>
            </a:r>
          </a:p>
          <a:p>
            <a:pPr algn="l"/>
            <a:r>
              <a:rPr sz="1250" b="0">
                <a:solidFill>
                  <a:srgbClr val="9AABC7"/>
                </a:solidFill>
                <a:latin typeface="Segoe UI"/>
              </a:rPr>
              <a:t>Gemma-4 looks at the best picture of the top 3 ranges: YES or NO</a:t>
            </a:r>
          </a:p>
        </p:txBody>
      </p:sp>
      <p:cxnSp>
        <p:nvCxnSpPr>
          <p:cNvPr id="23" name="Connector 22"/>
          <p:cNvCxnSpPr/>
          <p:nvPr/>
        </p:nvCxnSpPr>
        <p:spPr>
          <a:xfrm>
            <a:off x="5980175" y="4572000"/>
            <a:ext cx="237744" cy="0"/>
          </a:xfrm>
          <a:prstGeom prst="line">
            <a:avLst/>
          </a:prstGeom>
          <a:ln w="25400">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227064" y="3886200"/>
            <a:ext cx="2606040" cy="1417320"/>
          </a:xfrm>
          <a:prstGeom prst="roundRect">
            <a:avLst>
              <a:gd name="adj" fmla="val 8000"/>
            </a:avLst>
          </a:prstGeom>
          <a:solidFill>
            <a:srgbClr val="131D30"/>
          </a:solidFill>
          <a:ln w="1905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EF2FA"/>
                </a:solidFill>
                <a:latin typeface="Segoe UI"/>
              </a:rPr>
              <a:t>Merge</a:t>
            </a:r>
          </a:p>
          <a:p>
            <a:pPr algn="l"/>
            <a:r>
              <a:rPr sz="1250" b="0">
                <a:solidFill>
                  <a:srgbClr val="9AABC7"/>
                </a:solidFill>
                <a:latin typeface="Segoe UI"/>
              </a:rPr>
              <a:t>Neighbouring windows become one range, e.g. 00:18 - 00:22</a:t>
            </a:r>
          </a:p>
        </p:txBody>
      </p:sp>
      <p:cxnSp>
        <p:nvCxnSpPr>
          <p:cNvPr id="25" name="Connector 24"/>
          <p:cNvCxnSpPr/>
          <p:nvPr/>
        </p:nvCxnSpPr>
        <p:spPr>
          <a:xfrm>
            <a:off x="8842248" y="4572000"/>
            <a:ext cx="237744" cy="0"/>
          </a:xfrm>
          <a:prstGeom prst="line">
            <a:avLst/>
          </a:prstGeom>
          <a:ln w="25400">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89136" y="3886200"/>
            <a:ext cx="2606040" cy="1417320"/>
          </a:xfrm>
          <a:prstGeom prst="roundRect">
            <a:avLst>
              <a:gd name="adj" fmla="val 8000"/>
            </a:avLst>
          </a:prstGeom>
          <a:solidFill>
            <a:srgbClr val="131D30"/>
          </a:solidFill>
          <a:ln w="1905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EF2FA"/>
                </a:solidFill>
                <a:latin typeface="Segoe UI"/>
              </a:rPr>
              <a:t>Answer</a:t>
            </a:r>
          </a:p>
          <a:p>
            <a:pPr algn="l"/>
            <a:r>
              <a:rPr sz="1250" b="0">
                <a:solidFill>
                  <a:srgbClr val="9AABC7"/>
                </a:solidFill>
                <a:latin typeface="Segoe UI"/>
              </a:rPr>
              <a:t>Gemma-4 writes the reply from the picture and notes; a chip opens the video at that time</a:t>
            </a:r>
          </a:p>
        </p:txBody>
      </p:sp>
      <p:sp>
        <p:nvSpPr>
          <p:cNvPr id="27" name="Rounded Rectangle 26"/>
          <p:cNvSpPr/>
          <p:nvPr/>
        </p:nvSpPr>
        <p:spPr>
          <a:xfrm>
            <a:off x="502920" y="5577840"/>
            <a:ext cx="11201400" cy="68580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0">
                <a:solidFill>
                  <a:srgbClr val="EEF2FA"/>
                </a:solidFill>
                <a:latin typeface="Segoe UI"/>
              </a:rPr>
              <a:t>Why two steps: a text-to-picture score is weak and narrow (about 0.3 to 0.55), so a small object barely beats an empty scene. The score shortlists, Gemma-4 decides, and the stored object list rescues small things.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USE CASE FLOW</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Home camera feed: search it and get the timestamp</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The use case: a camera in your home, you want to find something, and the answer comes back with the time.</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8</a:t>
            </a:r>
          </a:p>
        </p:txBody>
      </p:sp>
      <p:sp>
        <p:nvSpPr>
          <p:cNvPr id="10" name="Rounded Rectangle 9"/>
          <p:cNvSpPr/>
          <p:nvPr/>
        </p:nvSpPr>
        <p:spPr>
          <a:xfrm>
            <a:off x="502920" y="1691640"/>
            <a:ext cx="3611880" cy="384048"/>
          </a:xfrm>
          <a:prstGeom prst="roundRect">
            <a:avLst>
              <a:gd name="adj" fmla="val 20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EEF2FA"/>
                </a:solidFill>
                <a:latin typeface="Segoe UI"/>
              </a:rPr>
              <a:t>HOME CAMERA</a:t>
            </a:r>
          </a:p>
        </p:txBody>
      </p:sp>
      <p:sp>
        <p:nvSpPr>
          <p:cNvPr id="11" name="Rounded Rectangle 10"/>
          <p:cNvSpPr/>
          <p:nvPr/>
        </p:nvSpPr>
        <p:spPr>
          <a:xfrm>
            <a:off x="502920" y="2148840"/>
            <a:ext cx="3611880" cy="1600200"/>
          </a:xfrm>
          <a:prstGeom prst="roundRect">
            <a:avLst>
              <a:gd name="adj" fmla="val 8000"/>
            </a:avLst>
          </a:prstGeom>
          <a:solidFill>
            <a:srgbClr val="131D30"/>
          </a:solidFill>
          <a:ln w="12700">
            <a:solidFill>
              <a:srgbClr val="1E4F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0">
                <a:solidFill>
                  <a:srgbClr val="EEF2FA"/>
                </a:solidFill>
                <a:latin typeface="Segoe UI"/>
              </a:rPr>
              <a:t>Records the room</a:t>
            </a:r>
          </a:p>
          <a:p>
            <a:pPr algn="l"/>
            <a:r>
              <a:rPr sz="1400" b="0">
                <a:solidFill>
                  <a:srgbClr val="EEF2FA"/>
                </a:solidFill>
                <a:latin typeface="Segoe UI"/>
              </a:rPr>
              <a:t>Serves a JPEG snapshot on the home network</a:t>
            </a:r>
          </a:p>
        </p:txBody>
      </p:sp>
      <p:sp>
        <p:nvSpPr>
          <p:cNvPr id="12" name="Rounded Rectangle 11"/>
          <p:cNvSpPr/>
          <p:nvPr/>
        </p:nvSpPr>
        <p:spPr>
          <a:xfrm>
            <a:off x="4297680" y="1691640"/>
            <a:ext cx="3611880" cy="384048"/>
          </a:xfrm>
          <a:prstGeom prst="roundRect">
            <a:avLst>
              <a:gd name="adj" fmla="val 20000"/>
            </a:avLst>
          </a:prstGeom>
          <a:solidFill>
            <a:srgbClr val="3B8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EEF2FA"/>
                </a:solidFill>
                <a:latin typeface="Segoe UI"/>
              </a:rPr>
              <a:t>SMRITI (phone or edge device)</a:t>
            </a:r>
          </a:p>
        </p:txBody>
      </p:sp>
      <p:sp>
        <p:nvSpPr>
          <p:cNvPr id="13" name="Rounded Rectangle 12"/>
          <p:cNvSpPr/>
          <p:nvPr/>
        </p:nvSpPr>
        <p:spPr>
          <a:xfrm>
            <a:off x="4297680" y="2148840"/>
            <a:ext cx="3611880" cy="1600200"/>
          </a:xfrm>
          <a:prstGeom prst="roundRect">
            <a:avLst>
              <a:gd name="adj" fmla="val 8000"/>
            </a:avLst>
          </a:prstGeom>
          <a:solidFill>
            <a:srgbClr val="131D30"/>
          </a:solidFill>
          <a:ln w="1270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0">
                <a:solidFill>
                  <a:srgbClr val="EEF2FA"/>
                </a:solidFill>
                <a:latin typeface="Segoe UI"/>
              </a:rPr>
              <a:t>Pulls a frame every few seconds</a:t>
            </a:r>
          </a:p>
          <a:p>
            <a:pPr algn="l"/>
            <a:r>
              <a:rPr sz="1400" b="0">
                <a:solidFill>
                  <a:srgbClr val="EEF2FA"/>
                </a:solidFill>
                <a:latin typeface="Segoe UI"/>
              </a:rPr>
              <a:t>Blurs faces, embeds, saves the moment</a:t>
            </a:r>
          </a:p>
          <a:p>
            <a:pPr algn="l"/>
            <a:r>
              <a:rPr sz="1400" b="0">
                <a:solidFill>
                  <a:srgbClr val="EEF2FA"/>
                </a:solidFill>
                <a:latin typeface="Segoe UI"/>
              </a:rPr>
              <a:t>Writes an object list in the background</a:t>
            </a:r>
          </a:p>
        </p:txBody>
      </p:sp>
      <p:sp>
        <p:nvSpPr>
          <p:cNvPr id="14" name="Rounded Rectangle 13"/>
          <p:cNvSpPr/>
          <p:nvPr/>
        </p:nvSpPr>
        <p:spPr>
          <a:xfrm>
            <a:off x="8092440" y="1691640"/>
            <a:ext cx="3611880" cy="384048"/>
          </a:xfrm>
          <a:prstGeom prst="roundRect">
            <a:avLst>
              <a:gd name="adj" fmla="val 2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0A101C"/>
                </a:solidFill>
                <a:latin typeface="Segoe UI"/>
              </a:rPr>
              <a:t>YOU</a:t>
            </a:r>
          </a:p>
        </p:txBody>
      </p:sp>
      <p:sp>
        <p:nvSpPr>
          <p:cNvPr id="15" name="Rounded Rectangle 14"/>
          <p:cNvSpPr/>
          <p:nvPr/>
        </p:nvSpPr>
        <p:spPr>
          <a:xfrm>
            <a:off x="8092440" y="2148840"/>
            <a:ext cx="3611880" cy="1600200"/>
          </a:xfrm>
          <a:prstGeom prst="roundRect">
            <a:avLst>
              <a:gd name="adj" fmla="val 8000"/>
            </a:avLst>
          </a:prstGeom>
          <a:solidFill>
            <a:srgbClr val="131D30"/>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0">
                <a:solidFill>
                  <a:srgbClr val="EEF2FA"/>
                </a:solidFill>
                <a:latin typeface="Segoe UI"/>
              </a:rPr>
              <a:t>Ask by voice or text</a:t>
            </a:r>
          </a:p>
          <a:p>
            <a:pPr algn="l"/>
            <a:r>
              <a:rPr sz="1400" b="0">
                <a:solidFill>
                  <a:srgbClr val="EEF2FA"/>
                </a:solidFill>
                <a:latin typeface="Segoe UI"/>
              </a:rPr>
              <a:t>"When did the parcel arrive?"</a:t>
            </a:r>
          </a:p>
          <a:p>
            <a:pPr algn="l"/>
            <a:r>
              <a:rPr sz="1400" b="0">
                <a:solidFill>
                  <a:srgbClr val="EEF2FA"/>
                </a:solidFill>
                <a:latin typeface="Segoe UI"/>
              </a:rPr>
              <a:t>Tap the time range to see the clip</a:t>
            </a:r>
          </a:p>
        </p:txBody>
      </p:sp>
      <p:cxnSp>
        <p:nvCxnSpPr>
          <p:cNvPr id="16" name="Connector 15"/>
          <p:cNvCxnSpPr/>
          <p:nvPr/>
        </p:nvCxnSpPr>
        <p:spPr>
          <a:xfrm>
            <a:off x="4123944" y="2926080"/>
            <a:ext cx="164592" cy="0"/>
          </a:xfrm>
          <a:prstGeom prst="line">
            <a:avLst/>
          </a:prstGeom>
          <a:ln w="25400">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7918704" y="2926080"/>
            <a:ext cx="164592" cy="0"/>
          </a:xfrm>
          <a:prstGeom prst="line">
            <a:avLst/>
          </a:prstGeom>
          <a:ln w="25400">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2920" y="4023360"/>
            <a:ext cx="5577840" cy="2194560"/>
          </a:xfrm>
          <a:prstGeom prst="roundRect">
            <a:avLst>
              <a:gd name="adj" fmla="val 8000"/>
            </a:avLst>
          </a:prstGeom>
          <a:solidFill>
            <a:srgbClr val="1A2740"/>
          </a:solidFill>
          <a:ln w="15875">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100" b="1">
                <a:solidFill>
                  <a:srgbClr val="3B8EEA"/>
                </a:solidFill>
                <a:latin typeface="Segoe UI"/>
              </a:rPr>
              <a:t>Example answer</a:t>
            </a:r>
          </a:p>
          <a:p>
            <a:pPr algn="l"/>
            <a:r>
              <a:rPr sz="400" b="0">
                <a:solidFill>
                  <a:srgbClr val="EEF2FA"/>
                </a:solidFill>
                <a:latin typeface="Segoe UI"/>
              </a:rPr>
              <a:t> </a:t>
            </a:r>
          </a:p>
          <a:p>
            <a:pPr algn="l"/>
            <a:r>
              <a:rPr sz="1800" b="1">
                <a:solidFill>
                  <a:srgbClr val="EEF2FA"/>
                </a:solidFill>
                <a:latin typeface="Segoe UI"/>
              </a:rPr>
              <a:t>"The parcel was left at the front door between 14:32 and 14:36."</a:t>
            </a:r>
          </a:p>
          <a:p>
            <a:pPr algn="l"/>
            <a:r>
              <a:rPr sz="400" b="0">
                <a:solidFill>
                  <a:srgbClr val="EEF2FA"/>
                </a:solidFill>
                <a:latin typeface="Segoe UI"/>
              </a:rPr>
              <a:t> </a:t>
            </a:r>
          </a:p>
          <a:p>
            <a:pPr algn="l"/>
            <a:r>
              <a:rPr sz="1300" b="0">
                <a:solidFill>
                  <a:srgbClr val="9AABC7"/>
                </a:solidFill>
                <a:latin typeface="Segoe UI"/>
              </a:rPr>
              <a:t>[ best frame, faces blurred ]    14:32 - 14:36  |  Front door</a:t>
            </a:r>
          </a:p>
          <a:p>
            <a:pPr algn="l"/>
            <a:r>
              <a:rPr sz="400" b="0">
                <a:solidFill>
                  <a:srgbClr val="EEF2FA"/>
                </a:solidFill>
                <a:latin typeface="Segoe UI"/>
              </a:rPr>
              <a:t> </a:t>
            </a:r>
          </a:p>
          <a:p>
            <a:pPr algn="l"/>
            <a:r>
              <a:rPr sz="1000" b="0">
                <a:solidFill>
                  <a:srgbClr val="F2B84B"/>
                </a:solidFill>
                <a:latin typeface="Segoe UI"/>
              </a:rPr>
              <a:t>Example for illustration.</a:t>
            </a:r>
          </a:p>
        </p:txBody>
      </p:sp>
      <p:sp>
        <p:nvSpPr>
          <p:cNvPr id="19" name="Rounded Rectangle 18"/>
          <p:cNvSpPr/>
          <p:nvPr/>
        </p:nvSpPr>
        <p:spPr>
          <a:xfrm>
            <a:off x="6263640" y="4023360"/>
            <a:ext cx="5440680" cy="219456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00" b="1">
                <a:solidFill>
                  <a:srgbClr val="EEF2FA"/>
                </a:solidFill>
                <a:latin typeface="Segoe UI"/>
              </a:rPr>
              <a:t>What works today, and what is next</a:t>
            </a:r>
          </a:p>
          <a:p>
            <a:pPr algn="l"/>
            <a:r>
              <a:rPr sz="400" b="0">
                <a:solidFill>
                  <a:srgbClr val="EEF2FA"/>
                </a:solidFill>
                <a:latin typeface="Segoe UI"/>
              </a:rPr>
              <a:t> </a:t>
            </a:r>
          </a:p>
          <a:p>
            <a:pPr algn="l"/>
            <a:r>
              <a:rPr sz="1300" b="0">
                <a:solidFill>
                  <a:srgbClr val="EEF2FA"/>
                </a:solidFill>
                <a:latin typeface="Segoe UI"/>
              </a:rPr>
              <a:t>Today: the phone camera, smart glasses, and any camera on the local network that serves a JPEG snapshot address (ESP32-CAM style).</a:t>
            </a:r>
          </a:p>
          <a:p>
            <a:pPr algn="l"/>
            <a:r>
              <a:rPr sz="1300" b="0">
                <a:solidFill>
                  <a:srgbClr val="EEF2FA"/>
                </a:solidFill>
                <a:latin typeface="Segoe UI"/>
              </a:rPr>
              <a:t>Search of past video, timestamps and clickable ranges work on the saved moments.</a:t>
            </a:r>
          </a:p>
          <a:p>
            <a:pPr algn="l"/>
            <a:r>
              <a:rPr sz="1300" b="0">
                <a:solidFill>
                  <a:srgbClr val="F2B84B"/>
                </a:solidFill>
                <a:latin typeface="Segoe UI"/>
              </a:rPr>
              <a:t>Next: RTSP and ONVIF cameras, several rooms in one search, and alerts when an object appears.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USE CASE FLOW</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Alzheimer's care: a memory that answers back</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Built for repeated questions, low effort and zero embarrassment.</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9</a:t>
            </a:r>
          </a:p>
        </p:txBody>
      </p:sp>
      <p:sp>
        <p:nvSpPr>
          <p:cNvPr id="10" name="Rounded Rectangle 9"/>
          <p:cNvSpPr/>
          <p:nvPr/>
        </p:nvSpPr>
        <p:spPr>
          <a:xfrm>
            <a:off x="502920" y="1691640"/>
            <a:ext cx="5532120" cy="14630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3B8EEA"/>
                </a:solidFill>
                <a:latin typeface="Segoe UI"/>
              </a:rPr>
              <a:t>Lost item</a:t>
            </a:r>
          </a:p>
          <a:p>
            <a:pPr algn="l"/>
            <a:r>
              <a:rPr sz="1500" b="1">
                <a:solidFill>
                  <a:srgbClr val="EEF2FA"/>
                </a:solidFill>
                <a:latin typeface="Segoe UI"/>
              </a:rPr>
              <a:t>"Where are my glasses?"</a:t>
            </a:r>
          </a:p>
          <a:p>
            <a:pPr algn="l"/>
            <a:r>
              <a:rPr sz="1200" b="0">
                <a:solidFill>
                  <a:srgbClr val="9AABC7"/>
                </a:solidFill>
                <a:latin typeface="Segoe UI"/>
              </a:rPr>
              <a:t>Last picture of the glasses, "on the kitchen table at 9:28 AM".</a:t>
            </a:r>
          </a:p>
        </p:txBody>
      </p:sp>
      <p:sp>
        <p:nvSpPr>
          <p:cNvPr id="11" name="Rounded Rectangle 10"/>
          <p:cNvSpPr/>
          <p:nvPr/>
        </p:nvSpPr>
        <p:spPr>
          <a:xfrm>
            <a:off x="6172200" y="1691640"/>
            <a:ext cx="5532120" cy="14630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3B8EEA"/>
                </a:solidFill>
                <a:latin typeface="Segoe UI"/>
              </a:rPr>
              <a:t>Routine check</a:t>
            </a:r>
          </a:p>
          <a:p>
            <a:pPr algn="l"/>
            <a:r>
              <a:rPr sz="1500" b="1">
                <a:solidFill>
                  <a:srgbClr val="EEF2FA"/>
                </a:solidFill>
                <a:latin typeface="Segoe UI"/>
              </a:rPr>
              <a:t>"Did I take my pills?"</a:t>
            </a:r>
          </a:p>
          <a:p>
            <a:pPr algn="l"/>
            <a:r>
              <a:rPr sz="1200" b="0">
                <a:solidFill>
                  <a:srgbClr val="9AABC7"/>
                </a:solidFill>
                <a:latin typeface="Segoe UI"/>
              </a:rPr>
              <a:t>Shows the moment the pill box was handled, with the time.</a:t>
            </a:r>
          </a:p>
        </p:txBody>
      </p:sp>
      <p:sp>
        <p:nvSpPr>
          <p:cNvPr id="12" name="Rounded Rectangle 11"/>
          <p:cNvSpPr/>
          <p:nvPr/>
        </p:nvSpPr>
        <p:spPr>
          <a:xfrm>
            <a:off x="502920" y="3291840"/>
            <a:ext cx="5532120" cy="14630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3B8EEA"/>
                </a:solidFill>
                <a:latin typeface="Segoe UI"/>
              </a:rPr>
              <a:t>Look around</a:t>
            </a:r>
          </a:p>
          <a:p>
            <a:pPr algn="l"/>
            <a:r>
              <a:rPr sz="1500" b="1">
                <a:solidFill>
                  <a:srgbClr val="EEF2FA"/>
                </a:solidFill>
                <a:latin typeface="Segoe UI"/>
              </a:rPr>
              <a:t>"Look for my keys" (ask first, then film)</a:t>
            </a:r>
          </a:p>
          <a:p>
            <a:pPr algn="l"/>
            <a:r>
              <a:rPr sz="1200" b="0">
                <a:solidFill>
                  <a:srgbClr val="9AABC7"/>
                </a:solidFill>
                <a:latin typeface="Segoe UI"/>
              </a:rPr>
              <a:t>Pan the camera. "Found at 00:18" appears and the phone vibrates.</a:t>
            </a:r>
          </a:p>
        </p:txBody>
      </p:sp>
      <p:sp>
        <p:nvSpPr>
          <p:cNvPr id="13" name="Rounded Rectangle 12"/>
          <p:cNvSpPr/>
          <p:nvPr/>
        </p:nvSpPr>
        <p:spPr>
          <a:xfrm>
            <a:off x="6172200" y="3291840"/>
            <a:ext cx="5532120" cy="14630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3B8EEA"/>
                </a:solidFill>
                <a:latin typeface="Segoe UI"/>
              </a:rPr>
              <a:t>Day recap</a:t>
            </a:r>
          </a:p>
          <a:p>
            <a:pPr algn="l"/>
            <a:r>
              <a:rPr sz="1500" b="1">
                <a:solidFill>
                  <a:srgbClr val="EEF2FA"/>
                </a:solidFill>
                <a:latin typeface="Segoe UI"/>
              </a:rPr>
              <a:t>"What did I do this morning?"</a:t>
            </a:r>
          </a:p>
          <a:p>
            <a:pPr algn="l"/>
            <a:r>
              <a:rPr sz="1200" b="0">
                <a:solidFill>
                  <a:srgbClr val="9AABC7"/>
                </a:solidFill>
                <a:latin typeface="Segoe UI"/>
              </a:rPr>
              <a:t>A short spoken summary and a few pictures from the sessions.</a:t>
            </a:r>
          </a:p>
        </p:txBody>
      </p:sp>
      <p:sp>
        <p:nvSpPr>
          <p:cNvPr id="14" name="Rounded Rectangle 13"/>
          <p:cNvSpPr/>
          <p:nvPr/>
        </p:nvSpPr>
        <p:spPr>
          <a:xfrm>
            <a:off x="502920" y="4983480"/>
            <a:ext cx="2697480" cy="91440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Voice first</a:t>
            </a:r>
          </a:p>
          <a:p>
            <a:pPr algn="l"/>
            <a:r>
              <a:rPr sz="1100" b="0">
                <a:solidFill>
                  <a:srgbClr val="9AABC7"/>
                </a:solidFill>
                <a:latin typeface="Segoe UI"/>
              </a:rPr>
              <a:t>Talk, and interrupt at any time</a:t>
            </a:r>
          </a:p>
        </p:txBody>
      </p:sp>
      <p:sp>
        <p:nvSpPr>
          <p:cNvPr id="15" name="Rounded Rectangle 14"/>
          <p:cNvSpPr/>
          <p:nvPr/>
        </p:nvSpPr>
        <p:spPr>
          <a:xfrm>
            <a:off x="3337560" y="4983480"/>
            <a:ext cx="2697480" cy="91440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Own language</a:t>
            </a:r>
          </a:p>
          <a:p>
            <a:pPr algn="l"/>
            <a:r>
              <a:rPr sz="1100" b="0">
                <a:solidFill>
                  <a:srgbClr val="9AABC7"/>
                </a:solidFill>
                <a:latin typeface="Segoe UI"/>
              </a:rPr>
              <a:t>Questions and answers in the language set in Settings</a:t>
            </a:r>
          </a:p>
        </p:txBody>
      </p:sp>
      <p:sp>
        <p:nvSpPr>
          <p:cNvPr id="16" name="Rounded Rectangle 15"/>
          <p:cNvSpPr/>
          <p:nvPr/>
        </p:nvSpPr>
        <p:spPr>
          <a:xfrm>
            <a:off x="6172200" y="4983480"/>
            <a:ext cx="2697480" cy="91440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Private</a:t>
            </a:r>
          </a:p>
          <a:p>
            <a:pPr algn="l"/>
            <a:r>
              <a:rPr sz="1100" b="0">
                <a:solidFill>
                  <a:srgbClr val="9AABC7"/>
                </a:solidFill>
                <a:latin typeface="Segoe UI"/>
              </a:rPr>
              <a:t>Faces blurred, nothing leaves the phone</a:t>
            </a:r>
          </a:p>
        </p:txBody>
      </p:sp>
      <p:sp>
        <p:nvSpPr>
          <p:cNvPr id="17" name="Rounded Rectangle 16"/>
          <p:cNvSpPr/>
          <p:nvPr/>
        </p:nvSpPr>
        <p:spPr>
          <a:xfrm>
            <a:off x="9006840" y="4983480"/>
            <a:ext cx="2697480" cy="91440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Caregiver friendly</a:t>
            </a:r>
          </a:p>
          <a:p>
            <a:pPr algn="l"/>
            <a:r>
              <a:rPr sz="1100" b="0">
                <a:solidFill>
                  <a:srgbClr val="9AABC7"/>
                </a:solidFill>
                <a:latin typeface="Segoe UI"/>
              </a:rPr>
              <a:t>Timeline of sessions to review with the person</a:t>
            </a:r>
          </a:p>
        </p:txBody>
      </p:sp>
      <p:sp>
        <p:nvSpPr>
          <p:cNvPr id="18" name="TextBox 17"/>
          <p:cNvSpPr txBox="1"/>
          <p:nvPr/>
        </p:nvSpPr>
        <p:spPr>
          <a:xfrm>
            <a:off x="502920" y="6035040"/>
            <a:ext cx="11155680" cy="274320"/>
          </a:xfrm>
          <a:prstGeom prst="rect">
            <a:avLst/>
          </a:prstGeom>
          <a:noFill/>
        </p:spPr>
        <p:txBody>
          <a:bodyPr wrap="square" anchor="t" lIns="0" rIns="0" tIns="36576" bIns="36576">
            <a:spAutoFit/>
          </a:bodyPr>
          <a:lstStyle/>
          <a:p>
            <a:pPr algn="l"/>
            <a:r>
              <a:rPr sz="1000" b="0">
                <a:solidFill>
                  <a:srgbClr val="F2B84B"/>
                </a:solidFill>
                <a:latin typeface="Segoe UI"/>
              </a:rPr>
              <a:t>Smriti is a memory aid and does not diagnose or treat. Care decisions stay with the person's family and doctors.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USE CASE FLOW</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Out and about: the walk guide (MoveSense)</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For the person who has left the house and cannot find the way back. No camera, no map, nothing leaves the phone.</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10</a:t>
            </a:r>
          </a:p>
        </p:txBody>
      </p:sp>
      <p:sp>
        <p:nvSpPr>
          <p:cNvPr id="10" name="Rounded Rectangle 9"/>
          <p:cNvSpPr/>
          <p:nvPr/>
        </p:nvSpPr>
        <p:spPr>
          <a:xfrm>
            <a:off x="502920" y="1691640"/>
            <a:ext cx="2697480" cy="384048"/>
          </a:xfrm>
          <a:prstGeom prst="roundRect">
            <a:avLst>
              <a:gd name="adj" fmla="val 20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EEF2FA"/>
                </a:solidFill>
                <a:latin typeface="Segoe UI"/>
              </a:rPr>
              <a:t>1  Sensors</a:t>
            </a:r>
          </a:p>
        </p:txBody>
      </p:sp>
      <p:sp>
        <p:nvSpPr>
          <p:cNvPr id="11" name="Rounded Rectangle 10"/>
          <p:cNvSpPr/>
          <p:nvPr/>
        </p:nvSpPr>
        <p:spPr>
          <a:xfrm>
            <a:off x="502920" y="2148840"/>
            <a:ext cx="2697480" cy="1828800"/>
          </a:xfrm>
          <a:prstGeom prst="roundRect">
            <a:avLst>
              <a:gd name="adj" fmla="val 8000"/>
            </a:avLst>
          </a:prstGeom>
          <a:solidFill>
            <a:srgbClr val="131D30"/>
          </a:solidFill>
          <a:ln w="12700">
            <a:solidFill>
              <a:srgbClr val="1E4F9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00" b="0">
                <a:solidFill>
                  <a:srgbClr val="EEF2FA"/>
                </a:solidFill>
                <a:latin typeface="Segoe UI"/>
              </a:rPr>
              <a:t>Step detector</a:t>
            </a:r>
          </a:p>
          <a:p>
            <a:pPr algn="l"/>
            <a:r>
              <a:rPr sz="1200" b="0">
                <a:solidFill>
                  <a:srgbClr val="EEF2FA"/>
                </a:solidFill>
                <a:latin typeface="Segoe UI"/>
              </a:rPr>
              <a:t>Gyroscope</a:t>
            </a:r>
          </a:p>
          <a:p>
            <a:pPr algn="l"/>
            <a:r>
              <a:rPr sz="1200" b="0">
                <a:solidFill>
                  <a:srgbClr val="EEF2FA"/>
                </a:solidFill>
                <a:latin typeface="Segoe UI"/>
              </a:rPr>
              <a:t>Compass + field strength</a:t>
            </a:r>
          </a:p>
          <a:p>
            <a:pPr algn="l"/>
            <a:r>
              <a:rPr sz="1200" b="0">
                <a:solidFill>
                  <a:srgbClr val="EEF2FA"/>
                </a:solidFill>
                <a:latin typeface="Segoe UI"/>
              </a:rPr>
              <a:t>GPS (L1 + L5) fix and course</a:t>
            </a:r>
          </a:p>
          <a:p>
            <a:pPr algn="l"/>
            <a:r>
              <a:rPr sz="1200" b="0">
                <a:solidFill>
                  <a:srgbClr val="EEF2FA"/>
                </a:solidFill>
                <a:latin typeface="Segoe UI"/>
              </a:rPr>
              <a:t>Wi-Fi networks, hashed</a:t>
            </a:r>
          </a:p>
        </p:txBody>
      </p:sp>
      <p:cxnSp>
        <p:nvCxnSpPr>
          <p:cNvPr id="12" name="Connector 11"/>
          <p:cNvCxnSpPr/>
          <p:nvPr/>
        </p:nvCxnSpPr>
        <p:spPr>
          <a:xfrm>
            <a:off x="3209544" y="3063240"/>
            <a:ext cx="118872"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37560" y="1691640"/>
            <a:ext cx="2697480" cy="384048"/>
          </a:xfrm>
          <a:prstGeom prst="roundRect">
            <a:avLst>
              <a:gd name="adj" fmla="val 20000"/>
            </a:avLst>
          </a:prstGeom>
          <a:solidFill>
            <a:srgbClr val="3B8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EEF2FA"/>
                </a:solidFill>
                <a:latin typeface="Segoe UI"/>
              </a:rPr>
              <a:t>2  Where and which way</a:t>
            </a:r>
          </a:p>
        </p:txBody>
      </p:sp>
      <p:sp>
        <p:nvSpPr>
          <p:cNvPr id="14" name="Rounded Rectangle 13"/>
          <p:cNvSpPr/>
          <p:nvPr/>
        </p:nvSpPr>
        <p:spPr>
          <a:xfrm>
            <a:off x="3337560" y="2148840"/>
            <a:ext cx="2697480" cy="1828800"/>
          </a:xfrm>
          <a:prstGeom prst="roundRect">
            <a:avLst>
              <a:gd name="adj" fmla="val 8000"/>
            </a:avLst>
          </a:prstGeom>
          <a:solidFill>
            <a:srgbClr val="131D30"/>
          </a:solidFill>
          <a:ln w="1270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00" b="0">
                <a:solidFill>
                  <a:srgbClr val="EEF2FA"/>
                </a:solidFill>
                <a:latin typeface="Segoe UI"/>
              </a:rPr>
              <a:t>Gyroscope carries the heading, the compass gives north, GPS course learns how the phone is carried</a:t>
            </a:r>
          </a:p>
          <a:p>
            <a:pPr algn="l"/>
            <a:r>
              <a:rPr sz="1200" b="0">
                <a:solidFill>
                  <a:srgbClr val="EEF2FA"/>
                </a:solidFill>
                <a:latin typeface="Segoe UI"/>
              </a:rPr>
              <a:t>Each step moves the position; each GPS fix pulls it back</a:t>
            </a:r>
          </a:p>
        </p:txBody>
      </p:sp>
      <p:cxnSp>
        <p:nvCxnSpPr>
          <p:cNvPr id="15" name="Connector 14"/>
          <p:cNvCxnSpPr/>
          <p:nvPr/>
        </p:nvCxnSpPr>
        <p:spPr>
          <a:xfrm>
            <a:off x="6044184" y="3063240"/>
            <a:ext cx="118872"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72200" y="1691640"/>
            <a:ext cx="2697480" cy="384048"/>
          </a:xfrm>
          <a:prstGeom prst="roundRect">
            <a:avLst>
              <a:gd name="adj" fmla="val 2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0A101C"/>
                </a:solidFill>
                <a:latin typeface="Segoe UI"/>
              </a:rPr>
              <a:t>3  The way</a:t>
            </a:r>
          </a:p>
        </p:txBody>
      </p:sp>
      <p:sp>
        <p:nvSpPr>
          <p:cNvPr id="17" name="Rounded Rectangle 16"/>
          <p:cNvSpPr/>
          <p:nvPr/>
        </p:nvSpPr>
        <p:spPr>
          <a:xfrm>
            <a:off x="6172200" y="2148840"/>
            <a:ext cx="2697480" cy="1828800"/>
          </a:xfrm>
          <a:prstGeom prst="roundRect">
            <a:avLst>
              <a:gd name="adj" fmla="val 8000"/>
            </a:avLst>
          </a:prstGeom>
          <a:solidFill>
            <a:srgbClr val="131D30"/>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00" b="0">
                <a:solidFill>
                  <a:srgbClr val="EEF2FA"/>
                </a:solidFill>
                <a:latin typeface="Segoe UI"/>
              </a:rPr>
              <a:t>Retrace the path that was walked</a:t>
            </a:r>
          </a:p>
          <a:p>
            <a:pPr algn="l"/>
            <a:r>
              <a:rPr sz="1200" b="0">
                <a:solidFill>
                  <a:srgbClr val="EEF2FA"/>
                </a:solidFill>
                <a:latin typeface="Segoe UI"/>
              </a:rPr>
              <a:t>or a straight line to a saved place</a:t>
            </a:r>
          </a:p>
          <a:p>
            <a:pPr algn="l"/>
            <a:r>
              <a:rPr sz="1200" b="0">
                <a:solidFill>
                  <a:srgbClr val="EEF2FA"/>
                </a:solidFill>
                <a:latin typeface="Segoe UI"/>
              </a:rPr>
              <a:t>or a saved walk, forward or back</a:t>
            </a:r>
          </a:p>
        </p:txBody>
      </p:sp>
      <p:cxnSp>
        <p:nvCxnSpPr>
          <p:cNvPr id="18" name="Connector 17"/>
          <p:cNvCxnSpPr/>
          <p:nvPr/>
        </p:nvCxnSpPr>
        <p:spPr>
          <a:xfrm>
            <a:off x="8878824" y="3063240"/>
            <a:ext cx="118872"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006840" y="1691640"/>
            <a:ext cx="2697480" cy="384048"/>
          </a:xfrm>
          <a:prstGeom prst="roundRect">
            <a:avLst>
              <a:gd name="adj" fmla="val 20000"/>
            </a:avLst>
          </a:prstGeom>
          <a:solidFill>
            <a:srgbClr val="3FBF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0A101C"/>
                </a:solidFill>
                <a:latin typeface="Segoe UI"/>
              </a:rPr>
              <a:t>4  Tell the person</a:t>
            </a:r>
          </a:p>
        </p:txBody>
      </p:sp>
      <p:sp>
        <p:nvSpPr>
          <p:cNvPr id="20" name="Rounded Rectangle 19"/>
          <p:cNvSpPr/>
          <p:nvPr/>
        </p:nvSpPr>
        <p:spPr>
          <a:xfrm>
            <a:off x="9006840" y="2148840"/>
            <a:ext cx="2697480" cy="1828800"/>
          </a:xfrm>
          <a:prstGeom prst="roundRect">
            <a:avLst>
              <a:gd name="adj" fmla="val 8000"/>
            </a:avLst>
          </a:prstGeom>
          <a:solidFill>
            <a:srgbClr val="131D30"/>
          </a:solidFill>
          <a:ln w="1270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00" b="0">
                <a:solidFill>
                  <a:srgbClr val="EEF2FA"/>
                </a:solidFill>
                <a:latin typeface="Segoe UI"/>
              </a:rPr>
              <a:t>Short voice cue in English or Hindi</a:t>
            </a:r>
          </a:p>
          <a:p>
            <a:pPr algn="l"/>
            <a:r>
              <a:rPr sz="1200" b="0">
                <a:solidFill>
                  <a:srgbClr val="EEF2FA"/>
                </a:solidFill>
                <a:latin typeface="Segoe UI"/>
              </a:rPr>
              <a:t>A buzz for each cue: left two short, right one long, turn around three long</a:t>
            </a:r>
          </a:p>
          <a:p>
            <a:pPr algn="l"/>
            <a:r>
              <a:rPr sz="1200" b="0">
                <a:solidFill>
                  <a:srgbClr val="EEF2FA"/>
                </a:solidFill>
                <a:latin typeface="Segoe UI"/>
              </a:rPr>
              <a:t>The walk drawn as a path with arrows, live on the screen</a:t>
            </a:r>
          </a:p>
        </p:txBody>
      </p:sp>
      <p:sp>
        <p:nvSpPr>
          <p:cNvPr id="21" name="Rounded Rectangle 20"/>
          <p:cNvSpPr/>
          <p:nvPr/>
        </p:nvSpPr>
        <p:spPr>
          <a:xfrm>
            <a:off x="502920" y="4160520"/>
            <a:ext cx="3657600" cy="2103120"/>
          </a:xfrm>
          <a:prstGeom prst="roundRect">
            <a:avLst>
              <a:gd name="adj" fmla="val 8000"/>
            </a:avLst>
          </a:prstGeom>
          <a:solidFill>
            <a:srgbClr val="1A2740"/>
          </a:solidFill>
          <a:ln w="1270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a:solidFill>
                  <a:srgbClr val="3B8EEA"/>
                </a:solidFill>
                <a:latin typeface="Segoe UI"/>
              </a:rPr>
              <a:t>Say it or tap it</a:t>
            </a:r>
          </a:p>
          <a:p>
            <a:pPr algn="l"/>
            <a:r>
              <a:rPr sz="400" b="0">
                <a:solidFill>
                  <a:srgbClr val="EEF2FA"/>
                </a:solidFill>
                <a:latin typeface="Segoe UI"/>
              </a:rPr>
              <a:t> </a:t>
            </a:r>
          </a:p>
          <a:p>
            <a:pPr algn="l"/>
            <a:r>
              <a:rPr sz="1200" b="0">
                <a:solidFill>
                  <a:srgbClr val="EEF2FA"/>
                </a:solidFill>
                <a:latin typeface="Segoe UI"/>
              </a:rPr>
              <a:t>"I am going out": it remembers the walk.</a:t>
            </a:r>
          </a:p>
          <a:p>
            <a:pPr algn="l"/>
            <a:r>
              <a:rPr sz="1200" b="0">
                <a:solidFill>
                  <a:srgbClr val="EEF2FA"/>
                </a:solidFill>
                <a:latin typeface="Segoe UI"/>
              </a:rPr>
              <a:t>"Take me home" or "I am lost": it leads back along the walk, or straight to the saved Home.</a:t>
            </a:r>
          </a:p>
          <a:p>
            <a:pPr algn="l"/>
            <a:r>
              <a:rPr sz="1200" b="0">
                <a:solidFill>
                  <a:srgbClr val="EEF2FA"/>
                </a:solidFill>
                <a:latin typeface="Segoe UI"/>
              </a:rPr>
              <a:t>"Stop guiding".</a:t>
            </a:r>
          </a:p>
        </p:txBody>
      </p:sp>
      <p:sp>
        <p:nvSpPr>
          <p:cNvPr id="22" name="Rounded Rectangle 21"/>
          <p:cNvSpPr/>
          <p:nvPr/>
        </p:nvSpPr>
        <p:spPr>
          <a:xfrm>
            <a:off x="4297680" y="4160520"/>
            <a:ext cx="3657600" cy="2103120"/>
          </a:xfrm>
          <a:prstGeom prst="roundRect">
            <a:avLst>
              <a:gd name="adj" fmla="val 8000"/>
            </a:avLst>
          </a:prstGeom>
          <a:solidFill>
            <a:srgbClr val="1A2740"/>
          </a:solidFill>
          <a:ln w="1270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a:solidFill>
                  <a:srgbClr val="3FBF8A"/>
                </a:solidFill>
                <a:latin typeface="Segoe UI"/>
              </a:rPr>
              <a:t>Checked</a:t>
            </a:r>
          </a:p>
          <a:p>
            <a:pPr algn="l"/>
            <a:r>
              <a:rPr sz="400" b="0">
                <a:solidFill>
                  <a:srgbClr val="EEF2FA"/>
                </a:solidFill>
                <a:latin typeface="Segoe UI"/>
              </a:rPr>
              <a:t> </a:t>
            </a:r>
          </a:p>
          <a:p>
            <a:pPr algn="l"/>
            <a:r>
              <a:rPr sz="1200" b="0">
                <a:solidFill>
                  <a:srgbClr val="EEF2FA"/>
                </a:solidFill>
                <a:latin typeface="Segoe UI"/>
              </a:rPr>
              <a:t>Simulated walks with noisy GPS, a biased compass and a phone in a pocket: back within about 6 to 10 m of the start, and a straight walk home from 340 m ends inside the saved radius. Step detector, compass, gyroscope, voice, service and database checked on the iQOO 15.</a:t>
            </a:r>
          </a:p>
        </p:txBody>
      </p:sp>
      <p:sp>
        <p:nvSpPr>
          <p:cNvPr id="23" name="Rounded Rectangle 22"/>
          <p:cNvSpPr/>
          <p:nvPr/>
        </p:nvSpPr>
        <p:spPr>
          <a:xfrm>
            <a:off x="8092440" y="4160520"/>
            <a:ext cx="3611880" cy="2103120"/>
          </a:xfrm>
          <a:prstGeom prst="roundRect">
            <a:avLst>
              <a:gd name="adj" fmla="val 8000"/>
            </a:avLst>
          </a:prstGeom>
          <a:solidFill>
            <a:srgbClr val="1A2740"/>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a:solidFill>
                  <a:srgbClr val="F2B84B"/>
                </a:solidFill>
                <a:latin typeface="Segoe UI"/>
              </a:rPr>
              <a:t>Honest limits</a:t>
            </a:r>
          </a:p>
          <a:p>
            <a:pPr algn="l"/>
            <a:r>
              <a:rPr sz="400" b="0">
                <a:solidFill>
                  <a:srgbClr val="EEF2FA"/>
                </a:solidFill>
                <a:latin typeface="Segoe UI"/>
              </a:rPr>
              <a:t> </a:t>
            </a:r>
          </a:p>
          <a:p>
            <a:pPr algn="l"/>
            <a:r>
              <a:rPr sz="1200" b="0">
                <a:solidFill>
                  <a:srgbClr val="EEF2FA"/>
                </a:solidFill>
                <a:latin typeface="Segoe UI"/>
              </a:rPr>
              <a:t>Outdoors GPS holds it to 5 to 10 m. Indoors steps and compass drift a few metres: a room or a floor, not a building. No maps, so a straight line ignores walls. An aid, not a safety device.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FLOW 3: QUERY-FIRST</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Look for something: ask first, then film</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The question comes before the video, so the camera knows what to watch for while you move.</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11</a:t>
            </a:r>
          </a:p>
        </p:txBody>
      </p:sp>
      <p:sp>
        <p:nvSpPr>
          <p:cNvPr id="10" name="Rounded Rectangle 9"/>
          <p:cNvSpPr/>
          <p:nvPr/>
        </p:nvSpPr>
        <p:spPr>
          <a:xfrm>
            <a:off x="502920" y="1737360"/>
            <a:ext cx="1737360" cy="2148840"/>
          </a:xfrm>
          <a:prstGeom prst="roundRect">
            <a:avLst>
              <a:gd name="adj" fmla="val 8000"/>
            </a:avLst>
          </a:prstGeom>
          <a:solidFill>
            <a:srgbClr val="131D30"/>
          </a:solidFill>
          <a:ln w="1905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600" b="1">
                <a:solidFill>
                  <a:srgbClr val="3B8EEA"/>
                </a:solidFill>
                <a:latin typeface="Segoe UI"/>
              </a:rPr>
              <a:t>1  Ask</a:t>
            </a:r>
          </a:p>
          <a:p>
            <a:pPr algn="l"/>
            <a:r>
              <a:rPr sz="400" b="0">
                <a:solidFill>
                  <a:srgbClr val="EEF2FA"/>
                </a:solidFill>
                <a:latin typeface="Segoe UI"/>
              </a:rPr>
              <a:t> </a:t>
            </a:r>
          </a:p>
          <a:p>
            <a:pPr algn="l"/>
            <a:r>
              <a:rPr sz="1300" b="0">
                <a:solidFill>
                  <a:srgbClr val="EEF2FA"/>
                </a:solidFill>
                <a:latin typeface="Segoe UI"/>
              </a:rPr>
              <a:t>Type "steel bottle" in the Look card on Home</a:t>
            </a:r>
          </a:p>
        </p:txBody>
      </p:sp>
      <p:cxnSp>
        <p:nvCxnSpPr>
          <p:cNvPr id="11" name="Connector 10"/>
          <p:cNvCxnSpPr/>
          <p:nvPr/>
        </p:nvCxnSpPr>
        <p:spPr>
          <a:xfrm>
            <a:off x="2249424" y="2788920"/>
            <a:ext cx="137160"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395728" y="1737360"/>
            <a:ext cx="1737360" cy="2148840"/>
          </a:xfrm>
          <a:prstGeom prst="roundRect">
            <a:avLst>
              <a:gd name="adj" fmla="val 8000"/>
            </a:avLst>
          </a:prstGeom>
          <a:solidFill>
            <a:srgbClr val="131D30"/>
          </a:solidFill>
          <a:ln w="1905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600" b="1">
                <a:solidFill>
                  <a:srgbClr val="3B8EEA"/>
                </a:solidFill>
                <a:latin typeface="Segoe UI"/>
              </a:rPr>
              <a:t>2  Film</a:t>
            </a:r>
          </a:p>
          <a:p>
            <a:pPr algn="l"/>
            <a:r>
              <a:rPr sz="400" b="0">
                <a:solidFill>
                  <a:srgbClr val="EEF2FA"/>
                </a:solidFill>
                <a:latin typeface="Segoe UI"/>
              </a:rPr>
              <a:t> </a:t>
            </a:r>
          </a:p>
          <a:p>
            <a:pPr algn="l"/>
            <a:r>
              <a:rPr sz="1300" b="0">
                <a:solidFill>
                  <a:srgbClr val="EEF2FA"/>
                </a:solidFill>
                <a:latin typeface="Segoe UI"/>
              </a:rPr>
              <a:t>Camera opens, a session starts, banner shows "Looking for: steel bottle"</a:t>
            </a:r>
          </a:p>
        </p:txBody>
      </p:sp>
      <p:cxnSp>
        <p:nvCxnSpPr>
          <p:cNvPr id="13" name="Connector 12"/>
          <p:cNvCxnSpPr/>
          <p:nvPr/>
        </p:nvCxnSpPr>
        <p:spPr>
          <a:xfrm>
            <a:off x="4142231" y="2788920"/>
            <a:ext cx="137161"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288536" y="1737360"/>
            <a:ext cx="1737360" cy="2148840"/>
          </a:xfrm>
          <a:prstGeom prst="roundRect">
            <a:avLst>
              <a:gd name="adj" fmla="val 8000"/>
            </a:avLst>
          </a:prstGeom>
          <a:solidFill>
            <a:srgbClr val="131D30"/>
          </a:solidFill>
          <a:ln w="1905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600" b="1">
                <a:solidFill>
                  <a:srgbClr val="3B8EEA"/>
                </a:solidFill>
                <a:latin typeface="Segoe UI"/>
              </a:rPr>
              <a:t>3  Watch live</a:t>
            </a:r>
          </a:p>
          <a:p>
            <a:pPr algn="l"/>
            <a:r>
              <a:rPr sz="400" b="0">
                <a:solidFill>
                  <a:srgbClr val="EEF2FA"/>
                </a:solidFill>
                <a:latin typeface="Segoe UI"/>
              </a:rPr>
              <a:t> </a:t>
            </a:r>
          </a:p>
          <a:p>
            <a:pPr algn="l"/>
            <a:r>
              <a:rPr sz="1300" b="0">
                <a:solidFill>
                  <a:srgbClr val="EEF2FA"/>
                </a:solidFill>
                <a:latin typeface="Segoe UI"/>
              </a:rPr>
              <a:t>Each saved window is compared to the target; likely ones are checked by Gemma-4</a:t>
            </a:r>
          </a:p>
        </p:txBody>
      </p:sp>
      <p:cxnSp>
        <p:nvCxnSpPr>
          <p:cNvPr id="15" name="Connector 14"/>
          <p:cNvCxnSpPr/>
          <p:nvPr/>
        </p:nvCxnSpPr>
        <p:spPr>
          <a:xfrm>
            <a:off x="6035040" y="2788920"/>
            <a:ext cx="137160"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81343" y="1737360"/>
            <a:ext cx="1737360" cy="2148840"/>
          </a:xfrm>
          <a:prstGeom prst="roundRect">
            <a:avLst>
              <a:gd name="adj" fmla="val 8000"/>
            </a:avLst>
          </a:prstGeom>
          <a:solidFill>
            <a:srgbClr val="131D30"/>
          </a:solidFill>
          <a:ln w="1905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600" b="1">
                <a:solidFill>
                  <a:srgbClr val="3FBF8A"/>
                </a:solidFill>
                <a:latin typeface="Segoe UI"/>
              </a:rPr>
              <a:t>4  Found</a:t>
            </a:r>
          </a:p>
          <a:p>
            <a:pPr algn="l"/>
            <a:r>
              <a:rPr sz="400" b="0">
                <a:solidFill>
                  <a:srgbClr val="EEF2FA"/>
                </a:solidFill>
                <a:latin typeface="Segoe UI"/>
              </a:rPr>
              <a:t> </a:t>
            </a:r>
          </a:p>
          <a:p>
            <a:pPr algn="l"/>
            <a:r>
              <a:rPr sz="1300" b="0">
                <a:solidFill>
                  <a:srgbClr val="EEF2FA"/>
                </a:solidFill>
                <a:latin typeface="Segoe UI"/>
              </a:rPr>
              <a:t>"Found at 00:18" and a vibration, while you keep filming</a:t>
            </a:r>
          </a:p>
        </p:txBody>
      </p:sp>
      <p:cxnSp>
        <p:nvCxnSpPr>
          <p:cNvPr id="17" name="Connector 16"/>
          <p:cNvCxnSpPr/>
          <p:nvPr/>
        </p:nvCxnSpPr>
        <p:spPr>
          <a:xfrm>
            <a:off x="7927847" y="2788920"/>
            <a:ext cx="137160"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74152" y="1737360"/>
            <a:ext cx="1737360" cy="2148840"/>
          </a:xfrm>
          <a:prstGeom prst="roundRect">
            <a:avLst>
              <a:gd name="adj" fmla="val 8000"/>
            </a:avLst>
          </a:prstGeom>
          <a:solidFill>
            <a:srgbClr val="131D30"/>
          </a:solidFill>
          <a:ln w="1905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600" b="1">
                <a:solidFill>
                  <a:srgbClr val="3B8EEA"/>
                </a:solidFill>
                <a:latin typeface="Segoe UI"/>
              </a:rPr>
              <a:t>5  Stop</a:t>
            </a:r>
          </a:p>
          <a:p>
            <a:pPr algn="l"/>
            <a:r>
              <a:rPr sz="400" b="0">
                <a:solidFill>
                  <a:srgbClr val="EEF2FA"/>
                </a:solidFill>
                <a:latin typeface="Segoe UI"/>
              </a:rPr>
              <a:t> </a:t>
            </a:r>
          </a:p>
          <a:p>
            <a:pPr algn="l"/>
            <a:r>
              <a:rPr sz="1300" b="0">
                <a:solidFill>
                  <a:srgbClr val="EEF2FA"/>
                </a:solidFill>
                <a:latin typeface="Segoe UI"/>
              </a:rPr>
              <a:t>Tap the red X. Smriti merges the hits into time ranges</a:t>
            </a:r>
          </a:p>
        </p:txBody>
      </p:sp>
      <p:cxnSp>
        <p:nvCxnSpPr>
          <p:cNvPr id="19" name="Connector 18"/>
          <p:cNvCxnSpPr/>
          <p:nvPr/>
        </p:nvCxnSpPr>
        <p:spPr>
          <a:xfrm>
            <a:off x="9820656" y="2788920"/>
            <a:ext cx="137160"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966960" y="1737360"/>
            <a:ext cx="1737360" cy="2148840"/>
          </a:xfrm>
          <a:prstGeom prst="roundRect">
            <a:avLst>
              <a:gd name="adj" fmla="val 8000"/>
            </a:avLst>
          </a:prstGeom>
          <a:solidFill>
            <a:srgbClr val="131D30"/>
          </a:solidFill>
          <a:ln w="1905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600" b="1">
                <a:solidFill>
                  <a:srgbClr val="F2B84B"/>
                </a:solidFill>
                <a:latin typeface="Segoe UI"/>
              </a:rPr>
              <a:t>6  Answer</a:t>
            </a:r>
          </a:p>
          <a:p>
            <a:pPr algn="l"/>
            <a:r>
              <a:rPr sz="400" b="0">
                <a:solidFill>
                  <a:srgbClr val="EEF2FA"/>
                </a:solidFill>
                <a:latin typeface="Segoe UI"/>
              </a:rPr>
              <a:t> </a:t>
            </a:r>
          </a:p>
          <a:p>
            <a:pPr algn="l"/>
            <a:r>
              <a:rPr sz="1300" b="0">
                <a:solidFill>
                  <a:srgbClr val="EEF2FA"/>
                </a:solidFill>
                <a:latin typeface="Segoe UI"/>
              </a:rPr>
              <a:t>Chat gets the reply, the picture and a tappable range. Tapping opens the session at that time</a:t>
            </a:r>
          </a:p>
        </p:txBody>
      </p:sp>
      <p:sp>
        <p:nvSpPr>
          <p:cNvPr id="21" name="Rounded Rectangle 20"/>
          <p:cNvSpPr/>
          <p:nvPr/>
        </p:nvSpPr>
        <p:spPr>
          <a:xfrm>
            <a:off x="502920" y="4206240"/>
            <a:ext cx="5486400" cy="2011680"/>
          </a:xfrm>
          <a:prstGeom prst="roundRect">
            <a:avLst>
              <a:gd name="adj" fmla="val 8000"/>
            </a:avLst>
          </a:prstGeom>
          <a:solidFill>
            <a:srgbClr val="1A2740"/>
          </a:solidFill>
          <a:ln w="1270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a:solidFill>
                  <a:srgbClr val="EEF2FA"/>
                </a:solidFill>
                <a:latin typeface="Segoe UI"/>
              </a:rPr>
              <a:t>Tested on the iQOO 15</a:t>
            </a:r>
          </a:p>
          <a:p>
            <a:pPr algn="l"/>
            <a:r>
              <a:rPr sz="400" b="0">
                <a:solidFill>
                  <a:srgbClr val="EEF2FA"/>
                </a:solidFill>
                <a:latin typeface="Segoe UI"/>
              </a:rPr>
              <a:t> </a:t>
            </a:r>
          </a:p>
          <a:p>
            <a:pPr algn="l"/>
            <a:r>
              <a:rPr sz="1200" b="0">
                <a:solidFill>
                  <a:srgbClr val="EEF2FA"/>
                </a:solidFill>
                <a:latin typeface="Segoe UI"/>
              </a:rPr>
              <a:t>Target "laptop": found at 00:18, answer "The picture shows a laptop screen with code visible, between 00:18 and 00:22."</a:t>
            </a:r>
          </a:p>
          <a:p>
            <a:pPr algn="l"/>
            <a:r>
              <a:rPr sz="400" b="0">
                <a:solidFill>
                  <a:srgbClr val="EEF2FA"/>
                </a:solidFill>
                <a:latin typeface="Segoe UI"/>
              </a:rPr>
              <a:t> </a:t>
            </a:r>
          </a:p>
          <a:p>
            <a:pPr algn="l"/>
            <a:r>
              <a:rPr sz="1200" b="0">
                <a:solidFill>
                  <a:srgbClr val="9AABC7"/>
                </a:solidFill>
                <a:latin typeface="Segoe UI"/>
              </a:rPr>
              <a:t>Target "steel bottle" (not in view): "I didn't see it in this recording", with a chip to open the whole recording.</a:t>
            </a:r>
          </a:p>
        </p:txBody>
      </p:sp>
      <p:sp>
        <p:nvSpPr>
          <p:cNvPr id="22" name="Rounded Rectangle 21"/>
          <p:cNvSpPr/>
          <p:nvPr/>
        </p:nvSpPr>
        <p:spPr>
          <a:xfrm>
            <a:off x="6172200" y="4206240"/>
            <a:ext cx="5532120" cy="201168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a:solidFill>
                  <a:srgbClr val="EEF2FA"/>
                </a:solidFill>
                <a:latin typeface="Segoe UI"/>
              </a:rPr>
              <a:t>Why query-first helps</a:t>
            </a:r>
          </a:p>
          <a:p>
            <a:pPr algn="l"/>
            <a:r>
              <a:rPr sz="400" b="0">
                <a:solidFill>
                  <a:srgbClr val="EEF2FA"/>
                </a:solidFill>
                <a:latin typeface="Segoe UI"/>
              </a:rPr>
              <a:t> </a:t>
            </a:r>
          </a:p>
          <a:p>
            <a:pPr algn="l"/>
            <a:r>
              <a:rPr sz="1200" b="0">
                <a:solidFill>
                  <a:srgbClr val="EEF2FA"/>
                </a:solidFill>
                <a:latin typeface="Segoe UI"/>
              </a:rPr>
              <a:t>The target is known before the video exists, so the search runs while you film and you get feedback in seconds.</a:t>
            </a:r>
          </a:p>
          <a:p>
            <a:pPr algn="l"/>
            <a:r>
              <a:rPr sz="400" b="0">
                <a:solidFill>
                  <a:srgbClr val="EEF2FA"/>
                </a:solidFill>
                <a:latin typeface="Segoe UI"/>
              </a:rPr>
              <a:t> </a:t>
            </a:r>
          </a:p>
          <a:p>
            <a:pPr algn="l"/>
            <a:r>
              <a:rPr sz="1200" b="0">
                <a:solidFill>
                  <a:srgbClr val="9AABC7"/>
                </a:solidFill>
                <a:latin typeface="Segoe UI"/>
              </a:rPr>
              <a:t>The video-first path (search afterwards) still works from the Memory tab, so both orders are supported.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PRIVACY BY DESIGN</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Privacy and storage: keep the meaning, not the video</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Video would grow without limit and expose faces. A small vector and a blurred still do the job.</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12</a:t>
            </a:r>
          </a:p>
        </p:txBody>
      </p:sp>
      <p:sp>
        <p:nvSpPr>
          <p:cNvPr id="10" name="Rounded Rectangle 9"/>
          <p:cNvSpPr/>
          <p:nvPr/>
        </p:nvSpPr>
        <p:spPr>
          <a:xfrm>
            <a:off x="502920" y="1691640"/>
            <a:ext cx="5486400" cy="2514600"/>
          </a:xfrm>
          <a:prstGeom prst="roundRect">
            <a:avLst>
              <a:gd name="adj" fmla="val 8000"/>
            </a:avLst>
          </a:prstGeom>
          <a:solidFill>
            <a:srgbClr val="131D30"/>
          </a:solidFill>
          <a:ln w="1905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3FBF8A"/>
                </a:solidFill>
                <a:latin typeface="Segoe UI"/>
              </a:rPr>
              <a:t>Stored on the phone</a:t>
            </a:r>
          </a:p>
          <a:p>
            <a:pPr algn="l"/>
            <a:r>
              <a:rPr sz="400" b="0">
                <a:solidFill>
                  <a:srgbClr val="EEF2FA"/>
                </a:solidFill>
                <a:latin typeface="Segoe UI"/>
              </a:rPr>
              <a:t> </a:t>
            </a:r>
          </a:p>
          <a:p>
            <a:pPr algn="l"/>
            <a:r>
              <a:rPr sz="1300" b="0">
                <a:solidFill>
                  <a:srgbClr val="EEF2FA"/>
                </a:solidFill>
                <a:latin typeface="Segoe UI"/>
              </a:rPr>
              <a:t>A 768-number vector per moment (3 KB)</a:t>
            </a:r>
          </a:p>
          <a:p>
            <a:pPr algn="l"/>
            <a:r>
              <a:rPr sz="1300" b="0">
                <a:solidFill>
                  <a:srgbClr val="EEF2FA"/>
                </a:solidFill>
                <a:latin typeface="Segoe UI"/>
              </a:rPr>
              <a:t>A blurred 360 px picture (about 16 KB)</a:t>
            </a:r>
          </a:p>
          <a:p>
            <a:pPr algn="l"/>
            <a:r>
              <a:rPr sz="1300" b="0">
                <a:solidFill>
                  <a:srgbClr val="EEF2FA"/>
                </a:solidFill>
                <a:latin typeface="Segoe UI"/>
              </a:rPr>
              <a:t>Time, place name, the words heard, an object list</a:t>
            </a:r>
          </a:p>
          <a:p>
            <a:pPr algn="l"/>
            <a:r>
              <a:rPr sz="1300" b="0">
                <a:solidFill>
                  <a:srgbClr val="EEF2FA"/>
                </a:solidFill>
                <a:latin typeface="Segoe UI"/>
              </a:rPr>
              <a:t>Sessions, look-for answers, saved places and walks</a:t>
            </a:r>
          </a:p>
        </p:txBody>
      </p:sp>
      <p:sp>
        <p:nvSpPr>
          <p:cNvPr id="11" name="Rounded Rectangle 10"/>
          <p:cNvSpPr/>
          <p:nvPr/>
        </p:nvSpPr>
        <p:spPr>
          <a:xfrm>
            <a:off x="6172200" y="1691640"/>
            <a:ext cx="5532120" cy="2514600"/>
          </a:xfrm>
          <a:prstGeom prst="roundRect">
            <a:avLst>
              <a:gd name="adj" fmla="val 8000"/>
            </a:avLst>
          </a:prstGeom>
          <a:solidFill>
            <a:srgbClr val="131D30"/>
          </a:solidFill>
          <a:ln w="19050">
            <a:solidFill>
              <a:srgbClr val="E5484D"/>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E5484D"/>
                </a:solidFill>
                <a:latin typeface="Segoe UI"/>
              </a:rPr>
              <a:t>Never stored</a:t>
            </a:r>
          </a:p>
          <a:p>
            <a:pPr algn="l"/>
            <a:r>
              <a:rPr sz="400" b="0">
                <a:solidFill>
                  <a:srgbClr val="EEF2FA"/>
                </a:solidFill>
                <a:latin typeface="Segoe UI"/>
              </a:rPr>
              <a:t> </a:t>
            </a:r>
          </a:p>
          <a:p>
            <a:pPr algn="l"/>
            <a:r>
              <a:rPr sz="1300" b="0">
                <a:solidFill>
                  <a:srgbClr val="EEF2FA"/>
                </a:solidFill>
                <a:latin typeface="Segoe UI"/>
              </a:rPr>
              <a:t>The raw camera frame</a:t>
            </a:r>
          </a:p>
          <a:p>
            <a:pPr algn="l"/>
            <a:r>
              <a:rPr sz="1300" b="0">
                <a:solidFill>
                  <a:srgbClr val="EEF2FA"/>
                </a:solidFill>
                <a:latin typeface="Segoe UI"/>
              </a:rPr>
              <a:t>Any unblurred face, or a scene that looks undressed</a:t>
            </a:r>
          </a:p>
          <a:p>
            <a:pPr algn="l"/>
            <a:r>
              <a:rPr sz="1300" b="0">
                <a:solidFill>
                  <a:srgbClr val="EEF2FA"/>
                </a:solidFill>
                <a:latin typeface="Segoe UI"/>
              </a:rPr>
              <a:t>The recorded sound (it is embedded, then discarded)</a:t>
            </a:r>
          </a:p>
          <a:p>
            <a:pPr algn="l"/>
            <a:r>
              <a:rPr sz="1300" b="0">
                <a:solidFill>
                  <a:srgbClr val="EEF2FA"/>
                </a:solidFill>
                <a:latin typeface="Segoe UI"/>
              </a:rPr>
              <a:t>Anything on a server: there is no cloud and no account</a:t>
            </a:r>
          </a:p>
        </p:txBody>
      </p:sp>
      <p:sp>
        <p:nvSpPr>
          <p:cNvPr id="12" name="Rounded Rectangle 11"/>
          <p:cNvSpPr/>
          <p:nvPr/>
        </p:nvSpPr>
        <p:spPr>
          <a:xfrm>
            <a:off x="502920" y="4343400"/>
            <a:ext cx="11201400" cy="914400"/>
          </a:xfrm>
          <a:prstGeom prst="roundRect">
            <a:avLst>
              <a:gd name="adj" fmla="val 8000"/>
            </a:avLst>
          </a:prstGeom>
          <a:solidFill>
            <a:srgbClr val="1A2740"/>
          </a:solidFill>
          <a:ln w="15875">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400" b="1">
                <a:solidFill>
                  <a:srgbClr val="3B8EEA"/>
                </a:solidFill>
                <a:latin typeface="Segoe UI"/>
              </a:rPr>
              <a:t>Encrypted at rest</a:t>
            </a:r>
          </a:p>
          <a:p>
            <a:pPr algn="l"/>
            <a:r>
              <a:rPr sz="1200" b="0">
                <a:solidFill>
                  <a:srgbClr val="EEF2FA"/>
                </a:solidFill>
                <a:latin typeface="Segoe UI"/>
              </a:rPr>
              <a:t>The database (SQLCipher, AES-256) and every picture (AES-256-GCM) are encrypted. The keys live in the phone's secure hardware (StrongBox on the iQOO 15) and cannot be read out. Optional app lock with fingerprint, face or PIN. Backups are off.</a:t>
            </a:r>
          </a:p>
        </p:txBody>
      </p:sp>
      <p:sp>
        <p:nvSpPr>
          <p:cNvPr id="13" name="Rounded Rectangle 12"/>
          <p:cNvSpPr/>
          <p:nvPr/>
        </p:nvSpPr>
        <p:spPr>
          <a:xfrm>
            <a:off x="502920" y="5394960"/>
            <a:ext cx="2697480" cy="91440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Dedupe</a:t>
            </a:r>
          </a:p>
          <a:p>
            <a:pPr algn="l"/>
            <a:r>
              <a:rPr sz="1100" b="0">
                <a:solidFill>
                  <a:srgbClr val="9AABC7"/>
                </a:solidFill>
                <a:latin typeface="Segoe UI"/>
              </a:rPr>
              <a:t>Near-identical scenes are skipped</a:t>
            </a:r>
          </a:p>
        </p:txBody>
      </p:sp>
      <p:sp>
        <p:nvSpPr>
          <p:cNvPr id="14" name="Rounded Rectangle 13"/>
          <p:cNvSpPr/>
          <p:nvPr/>
        </p:nvSpPr>
        <p:spPr>
          <a:xfrm>
            <a:off x="3337560" y="5394960"/>
            <a:ext cx="2697480" cy="91440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Budget</a:t>
            </a:r>
          </a:p>
          <a:p>
            <a:pPr algn="l"/>
            <a:r>
              <a:rPr sz="1100" b="0">
                <a:solidFill>
                  <a:srgbClr val="9AABC7"/>
                </a:solidFill>
                <a:latin typeface="Segoe UI"/>
              </a:rPr>
              <a:t>A storage budget you choose; old moments are thinned, then removed</a:t>
            </a:r>
          </a:p>
        </p:txBody>
      </p:sp>
      <p:sp>
        <p:nvSpPr>
          <p:cNvPr id="15" name="Rounded Rectangle 14"/>
          <p:cNvSpPr/>
          <p:nvPr/>
        </p:nvSpPr>
        <p:spPr>
          <a:xfrm>
            <a:off x="6172200" y="5394960"/>
            <a:ext cx="2697480" cy="91440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Control</a:t>
            </a:r>
          </a:p>
          <a:p>
            <a:pPr algn="l"/>
            <a:r>
              <a:rPr sz="1100" b="0">
                <a:solidFill>
                  <a:srgbClr val="9AABC7"/>
                </a:solidFill>
                <a:latin typeface="Segoe UI"/>
              </a:rPr>
              <a:t>Forget 5 min, 1 hour, one session or everything</a:t>
            </a:r>
          </a:p>
        </p:txBody>
      </p:sp>
      <p:sp>
        <p:nvSpPr>
          <p:cNvPr id="16" name="Rounded Rectangle 15"/>
          <p:cNvSpPr/>
          <p:nvPr/>
        </p:nvSpPr>
        <p:spPr>
          <a:xfrm>
            <a:off x="9006840" y="5394960"/>
            <a:ext cx="2697480" cy="91440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Offline</a:t>
            </a:r>
          </a:p>
          <a:p>
            <a:pPr algn="l"/>
            <a:r>
              <a:rPr sz="1100" b="0">
                <a:solidFill>
                  <a:srgbClr val="9AABC7"/>
                </a:solidFill>
                <a:latin typeface="Segoe UI"/>
              </a:rPr>
              <a:t>Network blocker inside the app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MODELS</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The on-device AI stack</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Four small models share the phone's NPU, GPU and CPU. Each does one job.</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13</a:t>
            </a:r>
          </a:p>
        </p:txBody>
      </p:sp>
      <p:sp>
        <p:nvSpPr>
          <p:cNvPr id="10" name="Rounded Rectangle 9"/>
          <p:cNvSpPr/>
          <p:nvPr/>
        </p:nvSpPr>
        <p:spPr>
          <a:xfrm>
            <a:off x="502920" y="1691640"/>
            <a:ext cx="3977639" cy="365760"/>
          </a:xfrm>
          <a:prstGeom prst="roundRect">
            <a:avLst>
              <a:gd name="adj" fmla="val 15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a:solidFill>
                  <a:srgbClr val="EEF2FA"/>
                </a:solidFill>
                <a:latin typeface="Segoe UI"/>
              </a:rPr>
              <a:t>Model</a:t>
            </a:r>
          </a:p>
        </p:txBody>
      </p:sp>
      <p:sp>
        <p:nvSpPr>
          <p:cNvPr id="11" name="Rounded Rectangle 10"/>
          <p:cNvSpPr/>
          <p:nvPr/>
        </p:nvSpPr>
        <p:spPr>
          <a:xfrm>
            <a:off x="4572000" y="1691640"/>
            <a:ext cx="4663440" cy="365760"/>
          </a:xfrm>
          <a:prstGeom prst="roundRect">
            <a:avLst>
              <a:gd name="adj" fmla="val 15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a:solidFill>
                  <a:srgbClr val="EEF2FA"/>
                </a:solidFill>
                <a:latin typeface="Segoe UI"/>
              </a:rPr>
              <a:t>Job in Smriti</a:t>
            </a:r>
          </a:p>
        </p:txBody>
      </p:sp>
      <p:sp>
        <p:nvSpPr>
          <p:cNvPr id="12" name="Rounded Rectangle 11"/>
          <p:cNvSpPr/>
          <p:nvPr/>
        </p:nvSpPr>
        <p:spPr>
          <a:xfrm>
            <a:off x="9326880" y="1691640"/>
            <a:ext cx="2377440" cy="365760"/>
          </a:xfrm>
          <a:prstGeom prst="roundRect">
            <a:avLst>
              <a:gd name="adj" fmla="val 15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1">
                <a:solidFill>
                  <a:srgbClr val="EEF2FA"/>
                </a:solidFill>
                <a:latin typeface="Segoe UI"/>
              </a:rPr>
              <a:t>Runs on</a:t>
            </a:r>
          </a:p>
        </p:txBody>
      </p:sp>
      <p:sp>
        <p:nvSpPr>
          <p:cNvPr id="13" name="Rounded Rectangle 12"/>
          <p:cNvSpPr/>
          <p:nvPr/>
        </p:nvSpPr>
        <p:spPr>
          <a:xfrm>
            <a:off x="502920" y="2148840"/>
            <a:ext cx="3977639" cy="777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EmbeddingGemma-2 740M (Qualcomm SM8850 build)</a:t>
            </a:r>
          </a:p>
        </p:txBody>
      </p:sp>
      <p:sp>
        <p:nvSpPr>
          <p:cNvPr id="14" name="Rounded Rectangle 13"/>
          <p:cNvSpPr/>
          <p:nvPr/>
        </p:nvSpPr>
        <p:spPr>
          <a:xfrm>
            <a:off x="4572000" y="2148840"/>
            <a:ext cx="4663440" cy="777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EEF2FA"/>
                </a:solidFill>
                <a:latin typeface="Segoe UI"/>
              </a:rPr>
              <a:t>Turns questions, pictures and sound into 768-number vectors for search</a:t>
            </a:r>
          </a:p>
        </p:txBody>
      </p:sp>
      <p:sp>
        <p:nvSpPr>
          <p:cNvPr id="15" name="Rounded Rectangle 14"/>
          <p:cNvSpPr/>
          <p:nvPr/>
        </p:nvSpPr>
        <p:spPr>
          <a:xfrm>
            <a:off x="9326880" y="2148840"/>
            <a:ext cx="2377440" cy="777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9AABC7"/>
                </a:solidFill>
                <a:latin typeface="Segoe UI"/>
              </a:rPr>
              <a:t>NPU (text), GPU (picture), CPU (audio)</a:t>
            </a:r>
          </a:p>
        </p:txBody>
      </p:sp>
      <p:sp>
        <p:nvSpPr>
          <p:cNvPr id="16" name="Rounded Rectangle 15"/>
          <p:cNvSpPr/>
          <p:nvPr/>
        </p:nvSpPr>
        <p:spPr>
          <a:xfrm>
            <a:off x="502920" y="3017520"/>
            <a:ext cx="3977639" cy="777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Gemma-4 E2B</a:t>
            </a:r>
          </a:p>
        </p:txBody>
      </p:sp>
      <p:sp>
        <p:nvSpPr>
          <p:cNvPr id="17" name="Rounded Rectangle 16"/>
          <p:cNvSpPr/>
          <p:nvPr/>
        </p:nvSpPr>
        <p:spPr>
          <a:xfrm>
            <a:off x="4572000" y="3017520"/>
            <a:ext cx="4663440" cy="777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EEF2FA"/>
                </a:solidFill>
                <a:latin typeface="Segoe UI"/>
              </a:rPr>
              <a:t>Sees the live frame, hears speech, translates, writes answers, lists every object, verifies matches</a:t>
            </a:r>
          </a:p>
        </p:txBody>
      </p:sp>
      <p:sp>
        <p:nvSpPr>
          <p:cNvPr id="18" name="Rounded Rectangle 17"/>
          <p:cNvSpPr/>
          <p:nvPr/>
        </p:nvSpPr>
        <p:spPr>
          <a:xfrm>
            <a:off x="9326880" y="3017520"/>
            <a:ext cx="2377440" cy="777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9AABC7"/>
                </a:solidFill>
                <a:latin typeface="Segoe UI"/>
              </a:rPr>
              <a:t>GPU, CPU fallback</a:t>
            </a:r>
          </a:p>
        </p:txBody>
      </p:sp>
      <p:sp>
        <p:nvSpPr>
          <p:cNvPr id="19" name="Rounded Rectangle 18"/>
          <p:cNvSpPr/>
          <p:nvPr/>
        </p:nvSpPr>
        <p:spPr>
          <a:xfrm>
            <a:off x="502920" y="3886200"/>
            <a:ext cx="3977639" cy="777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FunctionGemma 270M (Mobile Actions)</a:t>
            </a:r>
          </a:p>
        </p:txBody>
      </p:sp>
      <p:sp>
        <p:nvSpPr>
          <p:cNvPr id="20" name="Rounded Rectangle 19"/>
          <p:cNvSpPr/>
          <p:nvPr/>
        </p:nvSpPr>
        <p:spPr>
          <a:xfrm>
            <a:off x="4572000" y="3886200"/>
            <a:ext cx="4663440" cy="777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EEF2FA"/>
                </a:solidFill>
                <a:latin typeface="Segoe UI"/>
              </a:rPr>
              <a:t>Turns "turn on the flashlight" or "add a meeting" into a phone action</a:t>
            </a:r>
          </a:p>
        </p:txBody>
      </p:sp>
      <p:sp>
        <p:nvSpPr>
          <p:cNvPr id="21" name="Rounded Rectangle 20"/>
          <p:cNvSpPr/>
          <p:nvPr/>
        </p:nvSpPr>
        <p:spPr>
          <a:xfrm>
            <a:off x="9326880" y="3886200"/>
            <a:ext cx="2377440" cy="777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9AABC7"/>
                </a:solidFill>
                <a:latin typeface="Segoe UI"/>
              </a:rPr>
              <a:t>CPU</a:t>
            </a:r>
          </a:p>
        </p:txBody>
      </p:sp>
      <p:sp>
        <p:nvSpPr>
          <p:cNvPr id="22" name="Rounded Rectangle 21"/>
          <p:cNvSpPr/>
          <p:nvPr/>
        </p:nvSpPr>
        <p:spPr>
          <a:xfrm>
            <a:off x="502920" y="4754879"/>
            <a:ext cx="3977639" cy="777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1">
                <a:solidFill>
                  <a:srgbClr val="EEF2FA"/>
                </a:solidFill>
                <a:latin typeface="Segoe UI"/>
              </a:rPr>
              <a:t>EfficientDet + ML Kit</a:t>
            </a:r>
          </a:p>
        </p:txBody>
      </p:sp>
      <p:sp>
        <p:nvSpPr>
          <p:cNvPr id="23" name="Rounded Rectangle 22"/>
          <p:cNvSpPr/>
          <p:nvPr/>
        </p:nvSpPr>
        <p:spPr>
          <a:xfrm>
            <a:off x="4572000" y="4754879"/>
            <a:ext cx="4663440" cy="777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EEF2FA"/>
                </a:solidFill>
                <a:latin typeface="Segoe UI"/>
              </a:rPr>
              <a:t>Quick object boxes, text and scene labels for the live overlay and the dashboard</a:t>
            </a:r>
          </a:p>
        </p:txBody>
      </p:sp>
      <p:sp>
        <p:nvSpPr>
          <p:cNvPr id="24" name="Rounded Rectangle 23"/>
          <p:cNvSpPr/>
          <p:nvPr/>
        </p:nvSpPr>
        <p:spPr>
          <a:xfrm>
            <a:off x="9326880" y="4754879"/>
            <a:ext cx="2377440" cy="7772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9AABC7"/>
                </a:solidFill>
                <a:latin typeface="Segoe UI"/>
              </a:rPr>
              <a:t>CPU / GPU</a:t>
            </a:r>
          </a:p>
        </p:txBody>
      </p:sp>
      <p:sp>
        <p:nvSpPr>
          <p:cNvPr id="25" name="Rounded Rectangle 24"/>
          <p:cNvSpPr/>
          <p:nvPr/>
        </p:nvSpPr>
        <p:spPr>
          <a:xfrm>
            <a:off x="502920" y="5669280"/>
            <a:ext cx="11201400" cy="59436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0">
                <a:solidFill>
                  <a:srgbClr val="EEF2FA"/>
                </a:solidFill>
                <a:latin typeface="Segoe UI"/>
              </a:rPr>
              <a:t>Measured on the iQOO 15: a full object list of one picture takes 8 to 12 s on a hot phone, so it runs in the background, one at a time, and waits while you are talking to Smriti.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MODULES</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Software architecture</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One engine owns the models and the memory. Screens only observe its state.</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14</a:t>
            </a:r>
          </a:p>
        </p:txBody>
      </p:sp>
      <p:sp>
        <p:nvSpPr>
          <p:cNvPr id="10" name="Rounded Rectangle 9"/>
          <p:cNvSpPr/>
          <p:nvPr/>
        </p:nvSpPr>
        <p:spPr>
          <a:xfrm>
            <a:off x="502920" y="1691640"/>
            <a:ext cx="3017520" cy="548640"/>
          </a:xfrm>
          <a:prstGeom prst="roundRect">
            <a:avLst>
              <a:gd name="adj" fmla="val 8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UI  (Jetpack Compose)</a:t>
            </a:r>
          </a:p>
        </p:txBody>
      </p:sp>
      <p:sp>
        <p:nvSpPr>
          <p:cNvPr id="11" name="Rounded Rectangle 10"/>
          <p:cNvSpPr/>
          <p:nvPr/>
        </p:nvSpPr>
        <p:spPr>
          <a:xfrm>
            <a:off x="3611880" y="1691640"/>
            <a:ext cx="8092440" cy="5486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EEF2FA"/>
                </a:solidFill>
                <a:latin typeface="Segoe UI"/>
              </a:rPr>
              <a:t>Home, Live, Memory, Sensors, Settings, Walk guide with its path map, floating Smriti eye, app lock</a:t>
            </a:r>
          </a:p>
        </p:txBody>
      </p:sp>
      <p:sp>
        <p:nvSpPr>
          <p:cNvPr id="12" name="Rounded Rectangle 11"/>
          <p:cNvSpPr/>
          <p:nvPr/>
        </p:nvSpPr>
        <p:spPr>
          <a:xfrm>
            <a:off x="502920" y="2331720"/>
            <a:ext cx="3017520" cy="548640"/>
          </a:xfrm>
          <a:prstGeom prst="roundRect">
            <a:avLst>
              <a:gd name="adj" fmla="val 8000"/>
            </a:avLst>
          </a:prstGeom>
          <a:solidFill>
            <a:srgbClr val="3B8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Live and voice</a:t>
            </a:r>
          </a:p>
        </p:txBody>
      </p:sp>
      <p:sp>
        <p:nvSpPr>
          <p:cNvPr id="13" name="Rounded Rectangle 12"/>
          <p:cNvSpPr/>
          <p:nvPr/>
        </p:nvSpPr>
        <p:spPr>
          <a:xfrm>
            <a:off x="3611880" y="2331720"/>
            <a:ext cx="8092440" cy="5486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EEF2FA"/>
                </a:solidFill>
                <a:latin typeface="Segoe UI"/>
              </a:rPr>
              <a:t>LiveSession, VoiceCapture (adaptive VAD, echo guard, barge-in), look-for LookAnalysis, TargetWatcher</a:t>
            </a:r>
          </a:p>
        </p:txBody>
      </p:sp>
      <p:sp>
        <p:nvSpPr>
          <p:cNvPr id="14" name="Rounded Rectangle 13"/>
          <p:cNvSpPr/>
          <p:nvPr/>
        </p:nvSpPr>
        <p:spPr>
          <a:xfrm>
            <a:off x="502920" y="2971800"/>
            <a:ext cx="3017520" cy="548640"/>
          </a:xfrm>
          <a:prstGeom prst="roundRect">
            <a:avLst>
              <a:gd name="adj" fmla="val 8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0A101C"/>
                </a:solidFill>
                <a:latin typeface="Segoe UI"/>
              </a:rPr>
              <a:t>Engine  (SmritiEngine)</a:t>
            </a:r>
          </a:p>
        </p:txBody>
      </p:sp>
      <p:sp>
        <p:nvSpPr>
          <p:cNvPr id="15" name="Rounded Rectangle 14"/>
          <p:cNvSpPr/>
          <p:nvPr/>
        </p:nvSpPr>
        <p:spPr>
          <a:xfrm>
            <a:off x="3611880" y="2971800"/>
            <a:ext cx="8092440" cy="5486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EEF2FA"/>
                </a:solidFill>
                <a:latin typeface="Segoe UI"/>
              </a:rPr>
              <a:t>Router, scheduler, thermal governor and power plan, privacy redactor and sensitive-scene filter, moment capture, answerer</a:t>
            </a:r>
          </a:p>
        </p:txBody>
      </p:sp>
      <p:sp>
        <p:nvSpPr>
          <p:cNvPr id="16" name="Rounded Rectangle 15"/>
          <p:cNvSpPr/>
          <p:nvPr/>
        </p:nvSpPr>
        <p:spPr>
          <a:xfrm>
            <a:off x="502920" y="3611879"/>
            <a:ext cx="3017520" cy="548640"/>
          </a:xfrm>
          <a:prstGeom prst="roundRect">
            <a:avLst>
              <a:gd name="adj" fmla="val 8000"/>
            </a:avLst>
          </a:prstGeom>
          <a:solidFill>
            <a:srgbClr val="3FBF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0A101C"/>
                </a:solidFill>
                <a:latin typeface="Segoe UI"/>
              </a:rPr>
              <a:t>AI services</a:t>
            </a:r>
          </a:p>
        </p:txBody>
      </p:sp>
      <p:sp>
        <p:nvSpPr>
          <p:cNvPr id="17" name="Rounded Rectangle 16"/>
          <p:cNvSpPr/>
          <p:nvPr/>
        </p:nvSpPr>
        <p:spPr>
          <a:xfrm>
            <a:off x="3611880" y="3611879"/>
            <a:ext cx="8092440" cy="5486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EEF2FA"/>
                </a:solidFill>
                <a:latin typeface="Segoe UI"/>
              </a:rPr>
              <a:t>GemmaEmbedder, Brain (Gemma-4), Actions (FunctionGemma), VisualMemory, MomentSearch, SessionRecorder, Inventory, StorageManager</a:t>
            </a:r>
          </a:p>
        </p:txBody>
      </p:sp>
      <p:sp>
        <p:nvSpPr>
          <p:cNvPr id="18" name="Rounded Rectangle 17"/>
          <p:cNvSpPr/>
          <p:nvPr/>
        </p:nvSpPr>
        <p:spPr>
          <a:xfrm>
            <a:off x="502920" y="4251960"/>
            <a:ext cx="3017520" cy="548640"/>
          </a:xfrm>
          <a:prstGeom prst="roundRect">
            <a:avLst>
              <a:gd name="adj" fmla="val 8000"/>
            </a:avLst>
          </a:prstGeom>
          <a:solidFill>
            <a:srgbClr val="3B8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Walk guide  (move/)</a:t>
            </a:r>
          </a:p>
        </p:txBody>
      </p:sp>
      <p:sp>
        <p:nvSpPr>
          <p:cNvPr id="19" name="Rounded Rectangle 18"/>
          <p:cNvSpPr/>
          <p:nvPr/>
        </p:nvSpPr>
        <p:spPr>
          <a:xfrm>
            <a:off x="3611880" y="4251960"/>
            <a:ext cx="8092440" cy="5486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EEF2FA"/>
                </a:solidFill>
                <a:latin typeface="Segoe UI"/>
              </a:rPr>
              <a:t>Step detector, gyroscope, compass, GPS -&gt; position and heading -&gt; retrace or bearing -&gt; voice and buzz; own service, tables and tests</a:t>
            </a:r>
          </a:p>
        </p:txBody>
      </p:sp>
      <p:sp>
        <p:nvSpPr>
          <p:cNvPr id="20" name="Rounded Rectangle 19"/>
          <p:cNvSpPr/>
          <p:nvPr/>
        </p:nvSpPr>
        <p:spPr>
          <a:xfrm>
            <a:off x="502920" y="4892040"/>
            <a:ext cx="3017520" cy="548640"/>
          </a:xfrm>
          <a:prstGeom prst="roundRect">
            <a:avLst>
              <a:gd name="adj" fmla="val 8000"/>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Storage and security</a:t>
            </a:r>
          </a:p>
        </p:txBody>
      </p:sp>
      <p:sp>
        <p:nvSpPr>
          <p:cNvPr id="21" name="Rounded Rectangle 20"/>
          <p:cNvSpPr/>
          <p:nvPr/>
        </p:nvSpPr>
        <p:spPr>
          <a:xfrm>
            <a:off x="3611880" y="4892040"/>
            <a:ext cx="8092440" cy="5486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EEF2FA"/>
                </a:solidFill>
                <a:latin typeface="Segoe UI"/>
              </a:rPr>
              <a:t>Room 10 under SQLCipher, encrypted pictures, keys in the secure hardware (KeyVault), DataStore settings</a:t>
            </a:r>
          </a:p>
        </p:txBody>
      </p:sp>
      <p:sp>
        <p:nvSpPr>
          <p:cNvPr id="22" name="Rounded Rectangle 21"/>
          <p:cNvSpPr/>
          <p:nvPr/>
        </p:nvSpPr>
        <p:spPr>
          <a:xfrm>
            <a:off x="502920" y="5532119"/>
            <a:ext cx="3017520" cy="548640"/>
          </a:xfrm>
          <a:prstGeom prst="roundRect">
            <a:avLst>
              <a:gd name="adj" fmla="val 8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Sources and dashboard</a:t>
            </a:r>
          </a:p>
        </p:txBody>
      </p:sp>
      <p:sp>
        <p:nvSpPr>
          <p:cNvPr id="23" name="Rounded Rectangle 22"/>
          <p:cNvSpPr/>
          <p:nvPr/>
        </p:nvSpPr>
        <p:spPr>
          <a:xfrm>
            <a:off x="3611880" y="5532119"/>
            <a:ext cx="8092440" cy="54864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100" b="0">
                <a:solidFill>
                  <a:srgbClr val="EEF2FA"/>
                </a:solidFill>
                <a:latin typeface="Segoe UI"/>
              </a:rPr>
              <a:t>PhoneCameraSource (CameraX), Esp32Source (LAN snapshot), NanoHTTPD server + React dashboard</a:t>
            </a:r>
          </a:p>
        </p:txBody>
      </p:sp>
      <p:sp>
        <p:nvSpPr>
          <p:cNvPr id="24" name="TextBox 23"/>
          <p:cNvSpPr txBox="1"/>
          <p:nvPr/>
        </p:nvSpPr>
        <p:spPr>
          <a:xfrm>
            <a:off x="502920" y="6172200"/>
            <a:ext cx="10972800" cy="228600"/>
          </a:xfrm>
          <a:prstGeom prst="rect">
            <a:avLst/>
          </a:prstGeom>
          <a:noFill/>
        </p:spPr>
        <p:txBody>
          <a:bodyPr wrap="square" anchor="t" lIns="0" rIns="0" tIns="36576" bIns="36576">
            <a:spAutoFit/>
          </a:bodyPr>
          <a:lstStyle/>
          <a:p>
            <a:pPr algn="l"/>
            <a:r>
              <a:rPr sz="1000" b="0">
                <a:solidFill>
                  <a:srgbClr val="9AABC7"/>
                </a:solidFill>
                <a:latin typeface="Segoe UI"/>
              </a:rPr>
              <a:t>Kotlin, LiteRT-LM 0.18, Room 10 + SQLCipher, CameraX, ML Kit, MediaPipe. About 270 unit tests: ranges, sessions, parsing, storage rules, privacy maths, encryption, voice detection, and whole simulated walks.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ARCHITECTURE</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Full architecture: every feature on one page</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Everything runs on the phone. Sensors and cameras go in, memory, answers, guidance and alerts come out.</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15</a:t>
            </a:r>
          </a:p>
        </p:txBody>
      </p:sp>
      <p:sp>
        <p:nvSpPr>
          <p:cNvPr id="10" name="Rounded Rectangle 9"/>
          <p:cNvSpPr/>
          <p:nvPr/>
        </p:nvSpPr>
        <p:spPr>
          <a:xfrm>
            <a:off x="502920" y="1691640"/>
            <a:ext cx="2697480" cy="384048"/>
          </a:xfrm>
          <a:prstGeom prst="roundRect">
            <a:avLst>
              <a:gd name="adj" fmla="val 20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EEF2FA"/>
                </a:solidFill>
                <a:latin typeface="Segoe UI"/>
              </a:rPr>
              <a:t>INPUTS</a:t>
            </a:r>
          </a:p>
        </p:txBody>
      </p:sp>
      <p:sp>
        <p:nvSpPr>
          <p:cNvPr id="11" name="Rounded Rectangle 10"/>
          <p:cNvSpPr/>
          <p:nvPr/>
        </p:nvSpPr>
        <p:spPr>
          <a:xfrm>
            <a:off x="502920" y="2148840"/>
            <a:ext cx="2697480" cy="3108960"/>
          </a:xfrm>
          <a:prstGeom prst="roundRect">
            <a:avLst>
              <a:gd name="adj" fmla="val 8000"/>
            </a:avLst>
          </a:prstGeom>
          <a:solidFill>
            <a:srgbClr val="131D30"/>
          </a:solidFill>
          <a:ln w="12700">
            <a:solidFill>
              <a:srgbClr val="1E4F9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00" b="0">
                <a:solidFill>
                  <a:srgbClr val="EEF2FA"/>
                </a:solidFill>
                <a:latin typeface="Segoe UI"/>
              </a:rPr>
              <a:t>Phone camera (CameraX, 10 to 24 fps)</a:t>
            </a:r>
          </a:p>
          <a:p>
            <a:pPr algn="l"/>
            <a:r>
              <a:rPr sz="1200" b="0">
                <a:solidFill>
                  <a:srgbClr val="EEF2FA"/>
                </a:solidFill>
                <a:latin typeface="Segoe UI"/>
              </a:rPr>
              <a:t>Smart glasses (ESP32 snapshot over LAN)</a:t>
            </a:r>
          </a:p>
          <a:p>
            <a:pPr algn="l"/>
            <a:r>
              <a:rPr sz="1200" b="0">
                <a:solidFill>
                  <a:srgbClr val="EEF2FA"/>
                </a:solidFill>
                <a:latin typeface="Segoe UI"/>
              </a:rPr>
              <a:t>Microphone (adaptive voice detector)</a:t>
            </a:r>
          </a:p>
          <a:p>
            <a:pPr algn="l"/>
            <a:r>
              <a:rPr sz="1200" b="0">
                <a:solidFill>
                  <a:srgbClr val="EEF2FA"/>
                </a:solidFill>
                <a:latin typeface="Segoe UI"/>
              </a:rPr>
              <a:t>Step detector, gyroscope, compass</a:t>
            </a:r>
          </a:p>
          <a:p>
            <a:pPr algn="l"/>
            <a:r>
              <a:rPr sz="1200" b="0">
                <a:solidFill>
                  <a:srgbClr val="EEF2FA"/>
                </a:solidFill>
                <a:latin typeface="Segoe UI"/>
              </a:rPr>
              <a:t>GPS (L1+L5), Wi-Fi networks (hashed)</a:t>
            </a:r>
          </a:p>
        </p:txBody>
      </p:sp>
      <p:cxnSp>
        <p:nvCxnSpPr>
          <p:cNvPr id="12" name="Connector 11"/>
          <p:cNvCxnSpPr/>
          <p:nvPr/>
        </p:nvCxnSpPr>
        <p:spPr>
          <a:xfrm>
            <a:off x="3209544" y="3657600"/>
            <a:ext cx="118872"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37560" y="1691640"/>
            <a:ext cx="2697480" cy="384048"/>
          </a:xfrm>
          <a:prstGeom prst="roundRect">
            <a:avLst>
              <a:gd name="adj" fmla="val 20000"/>
            </a:avLst>
          </a:prstGeom>
          <a:solidFill>
            <a:srgbClr val="3B8E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EEF2FA"/>
                </a:solidFill>
                <a:latin typeface="Segoe UI"/>
              </a:rPr>
              <a:t>ON-DEVICE ENGINES</a:t>
            </a:r>
          </a:p>
        </p:txBody>
      </p:sp>
      <p:sp>
        <p:nvSpPr>
          <p:cNvPr id="14" name="Rounded Rectangle 13"/>
          <p:cNvSpPr/>
          <p:nvPr/>
        </p:nvSpPr>
        <p:spPr>
          <a:xfrm>
            <a:off x="3337560" y="2148840"/>
            <a:ext cx="2697480" cy="3108960"/>
          </a:xfrm>
          <a:prstGeom prst="roundRect">
            <a:avLst>
              <a:gd name="adj" fmla="val 8000"/>
            </a:avLst>
          </a:prstGeom>
          <a:solidFill>
            <a:srgbClr val="131D30"/>
          </a:solidFill>
          <a:ln w="12700">
            <a:solidFill>
              <a:srgbClr val="3B8EE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00" b="0">
                <a:solidFill>
                  <a:srgbClr val="EEF2FA"/>
                </a:solidFill>
                <a:latin typeface="Segoe UI"/>
              </a:rPr>
              <a:t>Gate, face blur, sensitive-scene filter</a:t>
            </a:r>
          </a:p>
          <a:p>
            <a:pPr algn="l"/>
            <a:r>
              <a:rPr sz="1200" b="0">
                <a:solidFill>
                  <a:srgbClr val="EEF2FA"/>
                </a:solidFill>
                <a:latin typeface="Segoe UI"/>
              </a:rPr>
              <a:t>EmbeddingGemma-2 on the NPU: meaning vectors</a:t>
            </a:r>
          </a:p>
          <a:p>
            <a:pPr algn="l"/>
            <a:r>
              <a:rPr sz="1200" b="0">
                <a:solidFill>
                  <a:srgbClr val="EEF2FA"/>
                </a:solidFill>
                <a:latin typeface="Segoe UI"/>
              </a:rPr>
              <a:t>Gemma-4 E2B on the GPU: see, hear, answer</a:t>
            </a:r>
          </a:p>
          <a:p>
            <a:pPr algn="l"/>
            <a:r>
              <a:rPr sz="1200" b="0">
                <a:solidFill>
                  <a:srgbClr val="EEF2FA"/>
                </a:solidFill>
                <a:latin typeface="Segoe UI"/>
              </a:rPr>
              <a:t>FunctionGemma: phone actions</a:t>
            </a:r>
          </a:p>
          <a:p>
            <a:pPr algn="l"/>
            <a:r>
              <a:rPr sz="1200" b="0">
                <a:solidFill>
                  <a:srgbClr val="EEF2FA"/>
                </a:solidFill>
                <a:latin typeface="Segoe UI"/>
              </a:rPr>
              <a:t>Walk guide: position, heading, guidance</a:t>
            </a:r>
          </a:p>
        </p:txBody>
      </p:sp>
      <p:cxnSp>
        <p:nvCxnSpPr>
          <p:cNvPr id="15" name="Connector 14"/>
          <p:cNvCxnSpPr/>
          <p:nvPr/>
        </p:nvCxnSpPr>
        <p:spPr>
          <a:xfrm>
            <a:off x="6044184" y="3657600"/>
            <a:ext cx="118872"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72200" y="1691640"/>
            <a:ext cx="2697480" cy="384048"/>
          </a:xfrm>
          <a:prstGeom prst="roundRect">
            <a:avLst>
              <a:gd name="adj" fmla="val 20000"/>
            </a:avLst>
          </a:prstGeom>
          <a:solidFill>
            <a:srgbClr val="3FBF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0A101C"/>
                </a:solidFill>
                <a:latin typeface="Segoe UI"/>
              </a:rPr>
              <a:t>MEMORY AND SECURITY</a:t>
            </a:r>
          </a:p>
        </p:txBody>
      </p:sp>
      <p:sp>
        <p:nvSpPr>
          <p:cNvPr id="17" name="Rounded Rectangle 16"/>
          <p:cNvSpPr/>
          <p:nvPr/>
        </p:nvSpPr>
        <p:spPr>
          <a:xfrm>
            <a:off x="6172200" y="2148840"/>
            <a:ext cx="2697480" cy="3108960"/>
          </a:xfrm>
          <a:prstGeom prst="roundRect">
            <a:avLst>
              <a:gd name="adj" fmla="val 8000"/>
            </a:avLst>
          </a:prstGeom>
          <a:solidFill>
            <a:srgbClr val="131D30"/>
          </a:solidFill>
          <a:ln w="1270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00" b="0">
                <a:solidFill>
                  <a:srgbClr val="EEF2FA"/>
                </a:solidFill>
                <a:latin typeface="Segoe UI"/>
              </a:rPr>
              <a:t>Room 10 under SQLCipher (AES-256)</a:t>
            </a:r>
          </a:p>
          <a:p>
            <a:pPr algn="l"/>
            <a:r>
              <a:rPr sz="1200" b="0">
                <a:solidFill>
                  <a:srgbClr val="EEF2FA"/>
                </a:solidFill>
                <a:latin typeface="Segoe UI"/>
              </a:rPr>
              <a:t>Pictures AES-256-GCM, blurred 360 px</a:t>
            </a:r>
          </a:p>
          <a:p>
            <a:pPr algn="l"/>
            <a:r>
              <a:rPr sz="1200" b="0">
                <a:solidFill>
                  <a:srgbClr val="EEF2FA"/>
                </a:solidFill>
                <a:latin typeface="Segoe UI"/>
              </a:rPr>
              <a:t>Keys in StrongBox, optional app lock</a:t>
            </a:r>
          </a:p>
          <a:p>
            <a:pPr algn="l"/>
            <a:r>
              <a:rPr sz="1200" b="0">
                <a:solidFill>
                  <a:srgbClr val="EEF2FA"/>
                </a:solidFill>
                <a:latin typeface="Segoe UI"/>
              </a:rPr>
              <a:t>Storage budget with thinning</a:t>
            </a:r>
          </a:p>
          <a:p>
            <a:pPr algn="l"/>
            <a:r>
              <a:rPr sz="1200" b="0">
                <a:solidFill>
                  <a:srgbClr val="EEF2FA"/>
                </a:solidFill>
                <a:latin typeface="Segoe UI"/>
              </a:rPr>
              <a:t>No cloud, no account, no backup</a:t>
            </a:r>
          </a:p>
        </p:txBody>
      </p:sp>
      <p:cxnSp>
        <p:nvCxnSpPr>
          <p:cNvPr id="18" name="Connector 17"/>
          <p:cNvCxnSpPr/>
          <p:nvPr/>
        </p:nvCxnSpPr>
        <p:spPr>
          <a:xfrm>
            <a:off x="8878824" y="3657600"/>
            <a:ext cx="118872" cy="0"/>
          </a:xfrm>
          <a:prstGeom prst="line">
            <a:avLst/>
          </a:prstGeom>
          <a:ln w="22225">
            <a:solidFill>
              <a:srgbClr val="3B8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006840" y="1691640"/>
            <a:ext cx="2697480" cy="384048"/>
          </a:xfrm>
          <a:prstGeom prst="roundRect">
            <a:avLst>
              <a:gd name="adj" fmla="val 20000"/>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0A101C"/>
                </a:solidFill>
                <a:latin typeface="Segoe UI"/>
              </a:rPr>
              <a:t>OUTPUTS</a:t>
            </a:r>
          </a:p>
        </p:txBody>
      </p:sp>
      <p:sp>
        <p:nvSpPr>
          <p:cNvPr id="20" name="Rounded Rectangle 19"/>
          <p:cNvSpPr/>
          <p:nvPr/>
        </p:nvSpPr>
        <p:spPr>
          <a:xfrm>
            <a:off x="9006840" y="2148840"/>
            <a:ext cx="2697480" cy="3108960"/>
          </a:xfrm>
          <a:prstGeom prst="roundRect">
            <a:avLst>
              <a:gd name="adj" fmla="val 8000"/>
            </a:avLst>
          </a:prstGeom>
          <a:solidFill>
            <a:srgbClr val="131D30"/>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200" b="0">
                <a:solidFill>
                  <a:srgbClr val="EEF2FA"/>
                </a:solidFill>
                <a:latin typeface="Segoe UI"/>
              </a:rPr>
              <a:t>Voice answers in the user's language</a:t>
            </a:r>
          </a:p>
          <a:p>
            <a:pPr algn="l"/>
            <a:r>
              <a:rPr sz="1200" b="0">
                <a:solidFill>
                  <a:srgbClr val="EEF2FA"/>
                </a:solidFill>
                <a:latin typeface="Segoe UI"/>
              </a:rPr>
              <a:t>Camera guide ring for objects</a:t>
            </a:r>
          </a:p>
          <a:p>
            <a:pPr algn="l"/>
            <a:r>
              <a:rPr sz="1200" b="0">
                <a:solidFill>
                  <a:srgbClr val="EEF2FA"/>
                </a:solidFill>
                <a:latin typeface="Segoe UI"/>
              </a:rPr>
              <a:t>Walk guide: voice, buzz, path map</a:t>
            </a:r>
          </a:p>
          <a:p>
            <a:pPr algn="l"/>
            <a:r>
              <a:rPr sz="1200" b="0">
                <a:solidFill>
                  <a:srgbClr val="EEF2FA"/>
                </a:solidFill>
                <a:latin typeface="Segoe UI"/>
              </a:rPr>
              <a:t>Time ranges that open the recording</a:t>
            </a:r>
          </a:p>
          <a:p>
            <a:pPr algn="l"/>
            <a:r>
              <a:rPr sz="1200" b="0">
                <a:solidFill>
                  <a:srgbClr val="EEF2FA"/>
                </a:solidFill>
                <a:latin typeface="Segoe UI"/>
              </a:rPr>
              <a:t>Thermal-aware frame rate</a:t>
            </a:r>
          </a:p>
        </p:txBody>
      </p:sp>
      <p:sp>
        <p:nvSpPr>
          <p:cNvPr id="21" name="Rounded Rectangle 20"/>
          <p:cNvSpPr/>
          <p:nvPr/>
        </p:nvSpPr>
        <p:spPr>
          <a:xfrm>
            <a:off x="502920" y="5440680"/>
            <a:ext cx="11201400" cy="77724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0">
                <a:solidFill>
                  <a:srgbClr val="EEF2FA"/>
                </a:solidFill>
                <a:latin typeface="Segoe UI"/>
              </a:rPr>
              <a:t>Foreground services keep the voice (microphone) and the walk guide (location) alive with the screen off. A network blocker refuses every connection except the user's own glasses.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TECHNOLOGY</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Tech stack</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Open, on-device components; nothing that needs a server.</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16</a:t>
            </a:r>
          </a:p>
        </p:txBody>
      </p:sp>
      <p:sp>
        <p:nvSpPr>
          <p:cNvPr id="10" name="Rounded Rectangle 9"/>
          <p:cNvSpPr/>
          <p:nvPr/>
        </p:nvSpPr>
        <p:spPr>
          <a:xfrm>
            <a:off x="502920" y="1691640"/>
            <a:ext cx="2194560" cy="493776"/>
          </a:xfrm>
          <a:prstGeom prst="roundRect">
            <a:avLst>
              <a:gd name="adj" fmla="val 8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App</a:t>
            </a:r>
          </a:p>
        </p:txBody>
      </p:sp>
      <p:sp>
        <p:nvSpPr>
          <p:cNvPr id="11" name="Rounded Rectangle 10"/>
          <p:cNvSpPr/>
          <p:nvPr/>
        </p:nvSpPr>
        <p:spPr>
          <a:xfrm>
            <a:off x="2788920" y="1691640"/>
            <a:ext cx="8915400" cy="493776"/>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0">
                <a:solidFill>
                  <a:srgbClr val="EEF2FA"/>
                </a:solidFill>
                <a:latin typeface="Segoe UI"/>
              </a:rPr>
              <a:t>Kotlin, Jetpack Compose, Material 3, Navigation, Coroutines and Flow</a:t>
            </a:r>
          </a:p>
        </p:txBody>
      </p:sp>
      <p:sp>
        <p:nvSpPr>
          <p:cNvPr id="12" name="Rounded Rectangle 11"/>
          <p:cNvSpPr/>
          <p:nvPr/>
        </p:nvSpPr>
        <p:spPr>
          <a:xfrm>
            <a:off x="502920" y="2258568"/>
            <a:ext cx="2194560" cy="493776"/>
          </a:xfrm>
          <a:prstGeom prst="roundRect">
            <a:avLst>
              <a:gd name="adj" fmla="val 8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AI runtime</a:t>
            </a:r>
          </a:p>
        </p:txBody>
      </p:sp>
      <p:sp>
        <p:nvSpPr>
          <p:cNvPr id="13" name="Rounded Rectangle 12"/>
          <p:cNvSpPr/>
          <p:nvPr/>
        </p:nvSpPr>
        <p:spPr>
          <a:xfrm>
            <a:off x="2788920" y="2258568"/>
            <a:ext cx="8915400" cy="493776"/>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0">
                <a:solidFill>
                  <a:srgbClr val="EEF2FA"/>
                </a:solidFill>
                <a:latin typeface="Segoe UI"/>
              </a:rPr>
              <a:t>LiteRT-LM 0.18 (Gemma-4 E2B GPU, EmbeddingGemma-2 NPU via Qualcomm runtime, FunctionGemma), ML Kit, MediaPipe</a:t>
            </a:r>
          </a:p>
        </p:txBody>
      </p:sp>
      <p:sp>
        <p:nvSpPr>
          <p:cNvPr id="14" name="Rounded Rectangle 13"/>
          <p:cNvSpPr/>
          <p:nvPr/>
        </p:nvSpPr>
        <p:spPr>
          <a:xfrm>
            <a:off x="502920" y="2825496"/>
            <a:ext cx="2194560" cy="493776"/>
          </a:xfrm>
          <a:prstGeom prst="roundRect">
            <a:avLst>
              <a:gd name="adj" fmla="val 8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Camera and audio</a:t>
            </a:r>
          </a:p>
        </p:txBody>
      </p:sp>
      <p:sp>
        <p:nvSpPr>
          <p:cNvPr id="15" name="Rounded Rectangle 14"/>
          <p:cNvSpPr/>
          <p:nvPr/>
        </p:nvSpPr>
        <p:spPr>
          <a:xfrm>
            <a:off x="2788920" y="2825496"/>
            <a:ext cx="8915400" cy="493776"/>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0">
                <a:solidFill>
                  <a:srgbClr val="EEF2FA"/>
                </a:solidFill>
                <a:latin typeface="Segoe UI"/>
              </a:rPr>
              <a:t>CameraX 1.4 with Camera2 frame-rate control, AudioRecord with an adaptive voice detector, Android TextToSpeech</a:t>
            </a:r>
          </a:p>
        </p:txBody>
      </p:sp>
      <p:sp>
        <p:nvSpPr>
          <p:cNvPr id="16" name="Rounded Rectangle 15"/>
          <p:cNvSpPr/>
          <p:nvPr/>
        </p:nvSpPr>
        <p:spPr>
          <a:xfrm>
            <a:off x="502920" y="3392424"/>
            <a:ext cx="2194560" cy="493776"/>
          </a:xfrm>
          <a:prstGeom prst="roundRect">
            <a:avLst>
              <a:gd name="adj" fmla="val 8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Sensors</a:t>
            </a:r>
          </a:p>
        </p:txBody>
      </p:sp>
      <p:sp>
        <p:nvSpPr>
          <p:cNvPr id="17" name="Rounded Rectangle 16"/>
          <p:cNvSpPr/>
          <p:nvPr/>
        </p:nvSpPr>
        <p:spPr>
          <a:xfrm>
            <a:off x="2788920" y="3392424"/>
            <a:ext cx="8915400" cy="493776"/>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0">
                <a:solidFill>
                  <a:srgbClr val="EEF2FA"/>
                </a:solidFill>
                <a:latin typeface="Segoe UI"/>
              </a:rPr>
              <a:t>Step detector, game rotation vector (gyroscope), rotation vector (compass), magnetic field, GPS, Wi-Fi scan</a:t>
            </a:r>
          </a:p>
        </p:txBody>
      </p:sp>
      <p:sp>
        <p:nvSpPr>
          <p:cNvPr id="18" name="Rounded Rectangle 17"/>
          <p:cNvSpPr/>
          <p:nvPr/>
        </p:nvSpPr>
        <p:spPr>
          <a:xfrm>
            <a:off x="502920" y="3959352"/>
            <a:ext cx="2194560" cy="493776"/>
          </a:xfrm>
          <a:prstGeom prst="roundRect">
            <a:avLst>
              <a:gd name="adj" fmla="val 8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Storage</a:t>
            </a:r>
          </a:p>
        </p:txBody>
      </p:sp>
      <p:sp>
        <p:nvSpPr>
          <p:cNvPr id="19" name="Rounded Rectangle 18"/>
          <p:cNvSpPr/>
          <p:nvPr/>
        </p:nvSpPr>
        <p:spPr>
          <a:xfrm>
            <a:off x="2788920" y="3959352"/>
            <a:ext cx="8915400" cy="493776"/>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0">
                <a:solidFill>
                  <a:srgbClr val="EEF2FA"/>
                </a:solidFill>
                <a:latin typeface="Segoe UI"/>
              </a:rPr>
              <a:t>Room 10 + SQLCipher 4.13, DataStore, AES-256-GCM files</a:t>
            </a:r>
          </a:p>
        </p:txBody>
      </p:sp>
      <p:sp>
        <p:nvSpPr>
          <p:cNvPr id="20" name="Rounded Rectangle 19"/>
          <p:cNvSpPr/>
          <p:nvPr/>
        </p:nvSpPr>
        <p:spPr>
          <a:xfrm>
            <a:off x="502920" y="4526280"/>
            <a:ext cx="2194560" cy="493776"/>
          </a:xfrm>
          <a:prstGeom prst="roundRect">
            <a:avLst>
              <a:gd name="adj" fmla="val 8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Security</a:t>
            </a:r>
          </a:p>
        </p:txBody>
      </p:sp>
      <p:sp>
        <p:nvSpPr>
          <p:cNvPr id="21" name="Rounded Rectangle 20"/>
          <p:cNvSpPr/>
          <p:nvPr/>
        </p:nvSpPr>
        <p:spPr>
          <a:xfrm>
            <a:off x="2788920" y="4526280"/>
            <a:ext cx="8915400" cy="493776"/>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0">
                <a:solidFill>
                  <a:srgbClr val="EEF2FA"/>
                </a:solidFill>
                <a:latin typeface="Segoe UI"/>
              </a:rPr>
              <a:t>Android Keystore (StrongBox), platform BiometricPrompt, FLAG_SECURE, backups off</a:t>
            </a:r>
          </a:p>
        </p:txBody>
      </p:sp>
      <p:sp>
        <p:nvSpPr>
          <p:cNvPr id="22" name="Rounded Rectangle 21"/>
          <p:cNvSpPr/>
          <p:nvPr/>
        </p:nvSpPr>
        <p:spPr>
          <a:xfrm>
            <a:off x="502920" y="5093208"/>
            <a:ext cx="2194560" cy="493776"/>
          </a:xfrm>
          <a:prstGeom prst="roundRect">
            <a:avLst>
              <a:gd name="adj" fmla="val 8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Tooling</a:t>
            </a:r>
          </a:p>
        </p:txBody>
      </p:sp>
      <p:sp>
        <p:nvSpPr>
          <p:cNvPr id="23" name="Rounded Rectangle 22"/>
          <p:cNvSpPr/>
          <p:nvPr/>
        </p:nvSpPr>
        <p:spPr>
          <a:xfrm>
            <a:off x="2788920" y="5093208"/>
            <a:ext cx="8915400" cy="493776"/>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0">
                <a:solidFill>
                  <a:srgbClr val="EEF2FA"/>
                </a:solidFill>
                <a:latin typeface="Segoe UI"/>
              </a:rPr>
              <a:t>Gradle, KSP, JUnit (272 tests), python-pptx, adb debug commands</a:t>
            </a:r>
          </a:p>
        </p:txBody>
      </p:sp>
      <p:sp>
        <p:nvSpPr>
          <p:cNvPr id="24" name="Rounded Rectangle 23"/>
          <p:cNvSpPr/>
          <p:nvPr/>
        </p:nvSpPr>
        <p:spPr>
          <a:xfrm>
            <a:off x="502920" y="5660136"/>
            <a:ext cx="2194560" cy="493776"/>
          </a:xfrm>
          <a:prstGeom prst="roundRect">
            <a:avLst>
              <a:gd name="adj" fmla="val 8000"/>
            </a:avLst>
          </a:prstGeom>
          <a:solidFill>
            <a:srgbClr val="1E4F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300" b="1">
                <a:solidFill>
                  <a:srgbClr val="EEF2FA"/>
                </a:solidFill>
                <a:latin typeface="Segoe UI"/>
              </a:rPr>
              <a:t>Target</a:t>
            </a:r>
          </a:p>
        </p:txBody>
      </p:sp>
      <p:sp>
        <p:nvSpPr>
          <p:cNvPr id="25" name="Rounded Rectangle 24"/>
          <p:cNvSpPr/>
          <p:nvPr/>
        </p:nvSpPr>
        <p:spPr>
          <a:xfrm>
            <a:off x="2788920" y="5660136"/>
            <a:ext cx="8915400" cy="493776"/>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200" b="0">
                <a:solidFill>
                  <a:srgbClr val="EEF2FA"/>
                </a:solidFill>
                <a:latin typeface="Segoe UI"/>
              </a:rPr>
              <a:t>iQOO 15, Snapdragon 8 Elite Gen 5, Android 16 (minSdk 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NOVELTY</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What is novel</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Not one trick: a private memory that also guides, on one phone.</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17</a:t>
            </a:r>
          </a:p>
        </p:txBody>
      </p:sp>
      <p:sp>
        <p:nvSpPr>
          <p:cNvPr id="10" name="Rounded Rectangle 9"/>
          <p:cNvSpPr/>
          <p:nvPr/>
        </p:nvSpPr>
        <p:spPr>
          <a:xfrm>
            <a:off x="502920" y="1691640"/>
            <a:ext cx="5532120" cy="132588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a:solidFill>
                  <a:srgbClr val="3B8EEA"/>
                </a:solidFill>
                <a:latin typeface="Segoe UI"/>
              </a:rPr>
              <a:t>Search by meaning, offline</a:t>
            </a:r>
          </a:p>
          <a:p>
            <a:pPr algn="l"/>
            <a:r>
              <a:rPr sz="1200" b="0">
                <a:solidFill>
                  <a:srgbClr val="EEF2FA"/>
                </a:solidFill>
                <a:latin typeface="Segoe UI"/>
              </a:rPr>
              <a:t>A question is matched to remembered pictures by meaning on the NPU, then checked by a language model; a stored object list rescues small things.</a:t>
            </a:r>
          </a:p>
        </p:txBody>
      </p:sp>
      <p:sp>
        <p:nvSpPr>
          <p:cNvPr id="11" name="Rounded Rectangle 10"/>
          <p:cNvSpPr/>
          <p:nvPr/>
        </p:nvSpPr>
        <p:spPr>
          <a:xfrm>
            <a:off x="6172200" y="1691640"/>
            <a:ext cx="5532120" cy="132588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a:solidFill>
                  <a:srgbClr val="3B8EEA"/>
                </a:solidFill>
                <a:latin typeface="Segoe UI"/>
              </a:rPr>
              <a:t>Query first, then film</a:t>
            </a:r>
          </a:p>
          <a:p>
            <a:pPr algn="l"/>
            <a:r>
              <a:rPr sz="1200" b="0">
                <a:solidFill>
                  <a:srgbClr val="EEF2FA"/>
                </a:solidFill>
                <a:latin typeface="Segoe UI"/>
              </a:rPr>
              <a:t>Say what to find, film, and Smriti watches live and says "found at 00:18" while you move.</a:t>
            </a:r>
          </a:p>
        </p:txBody>
      </p:sp>
      <p:sp>
        <p:nvSpPr>
          <p:cNvPr id="12" name="Rounded Rectangle 11"/>
          <p:cNvSpPr/>
          <p:nvPr/>
        </p:nvSpPr>
        <p:spPr>
          <a:xfrm>
            <a:off x="502920" y="3154680"/>
            <a:ext cx="5532120" cy="132588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a:solidFill>
                  <a:srgbClr val="3B8EEA"/>
                </a:solidFill>
                <a:latin typeface="Segoe UI"/>
              </a:rPr>
              <a:t>Memory that guides</a:t>
            </a:r>
          </a:p>
          <a:p>
            <a:pPr algn="l"/>
            <a:r>
              <a:rPr sz="1200" b="0">
                <a:solidFill>
                  <a:srgbClr val="EEF2FA"/>
                </a:solidFill>
                <a:latin typeface="Segoe UI"/>
              </a:rPr>
              <a:t>The same phone leads you to an object with the camera, and a person home with no camera at all.</a:t>
            </a:r>
          </a:p>
        </p:txBody>
      </p:sp>
      <p:sp>
        <p:nvSpPr>
          <p:cNvPr id="13" name="Rounded Rectangle 12"/>
          <p:cNvSpPr/>
          <p:nvPr/>
        </p:nvSpPr>
        <p:spPr>
          <a:xfrm>
            <a:off x="6172200" y="3154680"/>
            <a:ext cx="5532120" cy="132588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a:solidFill>
                  <a:srgbClr val="3B8EEA"/>
                </a:solidFill>
                <a:latin typeface="Segoe UI"/>
              </a:rPr>
              <a:t>Sensor fusion without maps</a:t>
            </a:r>
          </a:p>
          <a:p>
            <a:pPr algn="l"/>
            <a:r>
              <a:rPr sz="1200" b="0">
                <a:solidFill>
                  <a:srgbClr val="EEF2FA"/>
                </a:solidFill>
                <a:latin typeface="Segoe UI"/>
              </a:rPr>
              <a:t>Gyroscope carries direction, compass gives north, GPS course learns how the phone is carried; steps and GPS give position.</a:t>
            </a:r>
          </a:p>
        </p:txBody>
      </p:sp>
      <p:sp>
        <p:nvSpPr>
          <p:cNvPr id="14" name="Rounded Rectangle 13"/>
          <p:cNvSpPr/>
          <p:nvPr/>
        </p:nvSpPr>
        <p:spPr>
          <a:xfrm>
            <a:off x="502920" y="4617720"/>
            <a:ext cx="5532120" cy="132588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a:solidFill>
                  <a:srgbClr val="3B8EEA"/>
                </a:solidFill>
                <a:latin typeface="Segoe UI"/>
              </a:rPr>
              <a:t>Privacy as a feature</a:t>
            </a:r>
          </a:p>
          <a:p>
            <a:pPr algn="l"/>
            <a:r>
              <a:rPr sz="1200" b="0">
                <a:solidFill>
                  <a:srgbClr val="EEF2FA"/>
                </a:solidFill>
                <a:latin typeface="Segoe UI"/>
              </a:rPr>
              <a:t>Faces blurred, undressed scenes dropped, no video kept, keys in secure hardware, no cloud.</a:t>
            </a:r>
          </a:p>
        </p:txBody>
      </p:sp>
      <p:sp>
        <p:nvSpPr>
          <p:cNvPr id="15" name="Rounded Rectangle 14"/>
          <p:cNvSpPr/>
          <p:nvPr/>
        </p:nvSpPr>
        <p:spPr>
          <a:xfrm>
            <a:off x="6172200" y="4617720"/>
            <a:ext cx="5532120" cy="132588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400" b="1">
                <a:solidFill>
                  <a:srgbClr val="3B8EEA"/>
                </a:solidFill>
                <a:latin typeface="Segoe UI"/>
              </a:rPr>
              <a:t>Heat-aware by design</a:t>
            </a:r>
          </a:p>
          <a:p>
            <a:pPr algn="l"/>
            <a:r>
              <a:rPr sz="1200" b="0">
                <a:solidFill>
                  <a:srgbClr val="EEF2FA"/>
                </a:solidFill>
                <a:latin typeface="Segoe UI"/>
              </a:rPr>
              <a:t>Frame rate, analysis tick and capture spacing follow the phone's thermal headroom.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BUSINESS CASE</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Cost saving and ROI</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Figures marked (measured) come from the phone; the rest are stated assumptions. Replace them with your own prices.</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18</a:t>
            </a:r>
          </a:p>
        </p:txBody>
      </p:sp>
      <p:sp>
        <p:nvSpPr>
          <p:cNvPr id="10" name="Rounded Rectangle 9"/>
          <p:cNvSpPr/>
          <p:nvPr/>
        </p:nvSpPr>
        <p:spPr>
          <a:xfrm>
            <a:off x="502920" y="1691640"/>
            <a:ext cx="5486400" cy="2331720"/>
          </a:xfrm>
          <a:prstGeom prst="roundRect">
            <a:avLst>
              <a:gd name="adj" fmla="val 8000"/>
            </a:avLst>
          </a:prstGeom>
          <a:solidFill>
            <a:srgbClr val="131D30"/>
          </a:solidFill>
          <a:ln w="1905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3FBF8A"/>
                </a:solidFill>
                <a:latin typeface="Segoe UI"/>
              </a:rPr>
              <a:t>Running cost</a:t>
            </a:r>
          </a:p>
          <a:p>
            <a:pPr algn="l"/>
            <a:r>
              <a:rPr sz="400" b="0">
                <a:solidFill>
                  <a:srgbClr val="EEF2FA"/>
                </a:solidFill>
                <a:latin typeface="Segoe UI"/>
              </a:rPr>
              <a:t> </a:t>
            </a:r>
          </a:p>
          <a:p>
            <a:pPr algn="l"/>
            <a:r>
              <a:rPr sz="1200" b="0">
                <a:solidFill>
                  <a:srgbClr val="EEF2FA"/>
                </a:solidFill>
                <a:latin typeface="Segoe UI"/>
              </a:rPr>
              <a:t>Servers, accounts and per-query AI fees: none. The marginal cost of a question is the phone's battery.</a:t>
            </a:r>
          </a:p>
          <a:p>
            <a:pPr algn="l"/>
            <a:r>
              <a:rPr sz="1200" b="0">
                <a:solidFill>
                  <a:srgbClr val="EEF2FA"/>
                </a:solidFill>
                <a:latin typeface="Segoe UI"/>
              </a:rPr>
              <a:t>Storage (measured): about 19 KB per remembered moment, a chosen budget (default 300 MB), no video.</a:t>
            </a:r>
          </a:p>
          <a:p>
            <a:pPr algn="l"/>
            <a:r>
              <a:rPr sz="1200" b="0">
                <a:solidFill>
                  <a:srgbClr val="EEF2FA"/>
                </a:solidFill>
                <a:latin typeface="Segoe UI"/>
              </a:rPr>
              <a:t>Home camera, assumption 2 Mbps day and night: about 650 GB of video a month to store in a cloud; Smriti keeps at most its budget, roughly 2,000 times less.</a:t>
            </a:r>
          </a:p>
        </p:txBody>
      </p:sp>
      <p:sp>
        <p:nvSpPr>
          <p:cNvPr id="11" name="Rounded Rectangle 10"/>
          <p:cNvSpPr/>
          <p:nvPr/>
        </p:nvSpPr>
        <p:spPr>
          <a:xfrm>
            <a:off x="6172200" y="1691640"/>
            <a:ext cx="5532120" cy="2331720"/>
          </a:xfrm>
          <a:prstGeom prst="roundRect">
            <a:avLst>
              <a:gd name="adj" fmla="val 8000"/>
            </a:avLst>
          </a:prstGeom>
          <a:solidFill>
            <a:srgbClr val="131D30"/>
          </a:solidFill>
          <a:ln w="1905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500" b="1">
                <a:solidFill>
                  <a:srgbClr val="F2B84B"/>
                </a:solidFill>
                <a:latin typeface="Segoe UI"/>
              </a:rPr>
              <a:t>Where the value is</a:t>
            </a:r>
          </a:p>
          <a:p>
            <a:pPr algn="l"/>
            <a:r>
              <a:rPr sz="400" b="0">
                <a:solidFill>
                  <a:srgbClr val="EEF2FA"/>
                </a:solidFill>
                <a:latin typeface="Segoe UI"/>
              </a:rPr>
              <a:t> </a:t>
            </a:r>
          </a:p>
          <a:p>
            <a:pPr algn="l"/>
            <a:r>
              <a:rPr sz="1200" b="0">
                <a:solidFill>
                  <a:srgbClr val="EEF2FA"/>
                </a:solidFill>
                <a:latin typeface="Segoe UI"/>
              </a:rPr>
              <a:t>Caregiver time: fewer repeated questions answered by hand and fewer searches for lost items.</a:t>
            </a:r>
          </a:p>
          <a:p>
            <a:pPr algn="l"/>
            <a:r>
              <a:rPr sz="1200" b="0">
                <a:solidFill>
                  <a:srgbClr val="EEF2FA"/>
                </a:solidFill>
                <a:latin typeface="Segoe UI"/>
              </a:rPr>
              <a:t>Safety: a way home for a person who is out, with no extra device.</a:t>
            </a:r>
          </a:p>
          <a:p>
            <a:pPr algn="l"/>
            <a:r>
              <a:rPr sz="1200" b="0">
                <a:solidFill>
                  <a:srgbClr val="EEF2FA"/>
                </a:solidFill>
                <a:latin typeface="Segoe UI"/>
              </a:rPr>
              <a:t>Privacy cost avoided: no footage in anyone's cloud, so no breach or consent burden to manage.</a:t>
            </a:r>
          </a:p>
          <a:p>
            <a:pPr algn="l"/>
            <a:r>
              <a:rPr sz="1200" b="0">
                <a:solidFill>
                  <a:srgbClr val="EEF2FA"/>
                </a:solidFill>
                <a:latin typeface="Segoe UI"/>
              </a:rPr>
              <a:t>No new hardware: it runs on a phone the family already has.</a:t>
            </a:r>
          </a:p>
        </p:txBody>
      </p:sp>
      <p:sp>
        <p:nvSpPr>
          <p:cNvPr id="12" name="Rounded Rectangle 11"/>
          <p:cNvSpPr/>
          <p:nvPr/>
        </p:nvSpPr>
        <p:spPr>
          <a:xfrm>
            <a:off x="502920" y="4206240"/>
            <a:ext cx="11201400" cy="1097280"/>
          </a:xfrm>
          <a:prstGeom prst="roundRect">
            <a:avLst>
              <a:gd name="adj" fmla="val 8000"/>
            </a:avLst>
          </a:prstGeom>
          <a:solidFill>
            <a:srgbClr val="1A274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300" b="1">
                <a:solidFill>
                  <a:srgbClr val="EEF2FA"/>
                </a:solidFill>
                <a:latin typeface="Segoe UI"/>
              </a:rPr>
              <a:t>Simple payback formula</a:t>
            </a:r>
          </a:p>
          <a:p>
            <a:pPr algn="l"/>
            <a:r>
              <a:rPr sz="1200" b="0">
                <a:solidFill>
                  <a:srgbClr val="EEF2FA"/>
                </a:solidFill>
                <a:latin typeface="Segoe UI"/>
              </a:rPr>
              <a:t>Monthly saving = (cloud storage + per-query AI fees + subscription avoided) + (caregiver minutes saved per day x 30 x value of a minute). Smriti's recurring cost is zero, so payback is the one-time cost of building and deploying it.</a:t>
            </a:r>
          </a:p>
        </p:txBody>
      </p:sp>
      <p:sp>
        <p:nvSpPr>
          <p:cNvPr id="13" name="TextBox 12"/>
          <p:cNvSpPr txBox="1"/>
          <p:nvPr/>
        </p:nvSpPr>
        <p:spPr>
          <a:xfrm>
            <a:off x="502920" y="5486400"/>
            <a:ext cx="11155680" cy="640080"/>
          </a:xfrm>
          <a:prstGeom prst="rect">
            <a:avLst/>
          </a:prstGeom>
          <a:noFill/>
        </p:spPr>
        <p:txBody>
          <a:bodyPr wrap="square" anchor="t" lIns="0" rIns="0" tIns="36576" bIns="36576">
            <a:spAutoFit/>
          </a:bodyPr>
          <a:lstStyle/>
          <a:p>
            <a:pPr algn="l"/>
            <a:r>
              <a:rPr sz="1100" b="0">
                <a:solidFill>
                  <a:srgbClr val="F2B84B"/>
                </a:solidFill>
                <a:latin typeface="Segoe UI"/>
              </a:rPr>
              <a:t>Not measured yet: caregiver time saved and the number of times the walk guide gets a person home. These need a pilot with real users; no such result is claimed here. Smriti is an aid, not a medical or safety device.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502920" y="384048"/>
            <a:ext cx="310896" cy="64008"/>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13816" y="384048"/>
            <a:ext cx="310896" cy="64008"/>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24712" y="384048"/>
            <a:ext cx="310896" cy="64008"/>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54480" y="301752"/>
            <a:ext cx="5486400" cy="228600"/>
          </a:xfrm>
          <a:prstGeom prst="rect">
            <a:avLst/>
          </a:prstGeom>
          <a:noFill/>
        </p:spPr>
        <p:txBody>
          <a:bodyPr wrap="square" anchor="t" lIns="0" rIns="0" tIns="36576" bIns="36576">
            <a:spAutoFit/>
          </a:bodyPr>
          <a:lstStyle/>
          <a:p>
            <a:pPr algn="l"/>
            <a:r>
              <a:rPr sz="1000" b="1">
                <a:solidFill>
                  <a:srgbClr val="3B8EEA"/>
                </a:solidFill>
                <a:latin typeface="Segoe UI"/>
              </a:rPr>
              <a:t>STATUS</a:t>
            </a:r>
          </a:p>
        </p:txBody>
      </p:sp>
      <p:sp>
        <p:nvSpPr>
          <p:cNvPr id="6" name="TextBox 5"/>
          <p:cNvSpPr txBox="1"/>
          <p:nvPr/>
        </p:nvSpPr>
        <p:spPr>
          <a:xfrm>
            <a:off x="502920" y="530352"/>
            <a:ext cx="11155680" cy="548640"/>
          </a:xfrm>
          <a:prstGeom prst="rect">
            <a:avLst/>
          </a:prstGeom>
          <a:noFill/>
        </p:spPr>
        <p:txBody>
          <a:bodyPr wrap="square" anchor="t" lIns="0" rIns="0" tIns="36576" bIns="36576">
            <a:spAutoFit/>
          </a:bodyPr>
          <a:lstStyle/>
          <a:p>
            <a:pPr algn="l"/>
            <a:r>
              <a:rPr sz="2800" b="1">
                <a:solidFill>
                  <a:srgbClr val="EEF2FA"/>
                </a:solidFill>
                <a:latin typeface="Segoe UI"/>
              </a:rPr>
              <a:t>What is built and what comes next</a:t>
            </a:r>
          </a:p>
        </p:txBody>
      </p:sp>
      <p:sp>
        <p:nvSpPr>
          <p:cNvPr id="7" name="TextBox 6"/>
          <p:cNvSpPr txBox="1"/>
          <p:nvPr/>
        </p:nvSpPr>
        <p:spPr>
          <a:xfrm>
            <a:off x="502920" y="1078992"/>
            <a:ext cx="11155680" cy="365760"/>
          </a:xfrm>
          <a:prstGeom prst="rect">
            <a:avLst/>
          </a:prstGeom>
          <a:noFill/>
        </p:spPr>
        <p:txBody>
          <a:bodyPr wrap="square" anchor="t" lIns="0" rIns="0" tIns="36576" bIns="36576">
            <a:spAutoFit/>
          </a:bodyPr>
          <a:lstStyle/>
          <a:p>
            <a:pPr algn="l"/>
            <a:r>
              <a:rPr sz="1400" b="0">
                <a:solidFill>
                  <a:srgbClr val="9AABC7"/>
                </a:solidFill>
                <a:latin typeface="Segoe UI"/>
              </a:rPr>
              <a:t>Version 1.6.3, running on a real iQOO 15.</a:t>
            </a:r>
          </a:p>
        </p:txBody>
      </p:sp>
      <p:sp>
        <p:nvSpPr>
          <p:cNvPr id="8" name="TextBox 7"/>
          <p:cNvSpPr txBox="1"/>
          <p:nvPr/>
        </p:nvSpPr>
        <p:spPr>
          <a:xfrm>
            <a:off x="502920" y="6473952"/>
            <a:ext cx="7315200" cy="228600"/>
          </a:xfrm>
          <a:prstGeom prst="rect">
            <a:avLst/>
          </a:prstGeom>
          <a:noFill/>
        </p:spPr>
        <p:txBody>
          <a:bodyPr wrap="square" anchor="t" lIns="0" rIns="0" tIns="36576" bIns="36576">
            <a:spAutoFit/>
          </a:bodyPr>
          <a:lstStyle/>
          <a:p>
            <a:pPr algn="l"/>
            <a:r>
              <a:rPr sz="900" b="0">
                <a:solidFill>
                  <a:srgbClr val="9AABC7"/>
                </a:solidFill>
                <a:latin typeface="Segoe UI"/>
              </a:rPr>
              <a:t>Smriti  |  private visual memory, fully on the phone  |  iQOO 15</a:t>
            </a:r>
          </a:p>
        </p:txBody>
      </p:sp>
      <p:sp>
        <p:nvSpPr>
          <p:cNvPr id="9" name="TextBox 8"/>
          <p:cNvSpPr txBox="1"/>
          <p:nvPr/>
        </p:nvSpPr>
        <p:spPr>
          <a:xfrm>
            <a:off x="10972800" y="6473952"/>
            <a:ext cx="731520" cy="228600"/>
          </a:xfrm>
          <a:prstGeom prst="rect">
            <a:avLst/>
          </a:prstGeom>
          <a:noFill/>
        </p:spPr>
        <p:txBody>
          <a:bodyPr wrap="square" anchor="t" lIns="0" rIns="0" tIns="36576" bIns="36576">
            <a:spAutoFit/>
          </a:bodyPr>
          <a:lstStyle/>
          <a:p>
            <a:pPr algn="r"/>
            <a:r>
              <a:rPr sz="900" b="0">
                <a:solidFill>
                  <a:srgbClr val="9AABC7"/>
                </a:solidFill>
                <a:latin typeface="Segoe UI"/>
              </a:rPr>
              <a:t>19</a:t>
            </a:r>
          </a:p>
        </p:txBody>
      </p:sp>
      <p:sp>
        <p:nvSpPr>
          <p:cNvPr id="10" name="Rounded Rectangle 9"/>
          <p:cNvSpPr/>
          <p:nvPr/>
        </p:nvSpPr>
        <p:spPr>
          <a:xfrm>
            <a:off x="502920" y="1691640"/>
            <a:ext cx="5486400" cy="4480560"/>
          </a:xfrm>
          <a:prstGeom prst="roundRect">
            <a:avLst>
              <a:gd name="adj" fmla="val 8000"/>
            </a:avLst>
          </a:prstGeom>
          <a:solidFill>
            <a:srgbClr val="131D30"/>
          </a:solidFill>
          <a:ln w="19050">
            <a:solidFill>
              <a:srgbClr val="3FBF8A"/>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600" b="1">
                <a:solidFill>
                  <a:srgbClr val="3FBF8A"/>
                </a:solidFill>
                <a:latin typeface="Segoe UI"/>
              </a:rPr>
              <a:t>Built and tested</a:t>
            </a:r>
          </a:p>
          <a:p>
            <a:pPr algn="l"/>
            <a:r>
              <a:rPr sz="400" b="0">
                <a:solidFill>
                  <a:srgbClr val="EEF2FA"/>
                </a:solidFill>
                <a:latin typeface="Segoe UI"/>
              </a:rPr>
              <a:t> </a:t>
            </a:r>
          </a:p>
          <a:p>
            <a:pPr algn="l"/>
            <a:r>
              <a:rPr sz="1200" b="0">
                <a:solidFill>
                  <a:srgbClr val="EEF2FA"/>
                </a:solidFill>
                <a:latin typeface="Segoe UI"/>
              </a:rPr>
              <a:t>Live camera Q&amp;A by voice, with interrupt; voice follows the room noise</a:t>
            </a:r>
          </a:p>
          <a:p>
            <a:pPr algn="l"/>
            <a:r>
              <a:rPr sz="1200" b="0">
                <a:solidFill>
                  <a:srgbClr val="EEF2FA"/>
                </a:solidFill>
                <a:latin typeface="Segoe UI"/>
              </a:rPr>
              <a:t>Continuous private memory: picture, sound, object list</a:t>
            </a:r>
          </a:p>
          <a:p>
            <a:pPr algn="l"/>
            <a:r>
              <a:rPr sz="1200" b="0">
                <a:solidFill>
                  <a:srgbClr val="EEF2FA"/>
                </a:solidFill>
                <a:latin typeface="Segoe UI"/>
              </a:rPr>
              <a:t>Camera sessions, look for something, and a ring that guides you to an object</a:t>
            </a:r>
          </a:p>
          <a:p>
            <a:pPr algn="l"/>
            <a:r>
              <a:rPr sz="1200" b="0">
                <a:solidFill>
                  <a:srgbClr val="EEF2FA"/>
                </a:solidFill>
                <a:latin typeface="Segoe UI"/>
              </a:rPr>
              <a:t>Clickable time ranges that open the video at that moment</a:t>
            </a:r>
          </a:p>
          <a:p>
            <a:pPr algn="l"/>
            <a:r>
              <a:rPr sz="1200" b="0">
                <a:solidFill>
                  <a:srgbClr val="EEF2FA"/>
                </a:solidFill>
                <a:latin typeface="Segoe UI"/>
              </a:rPr>
              <a:t>Cooler and clearer: adaptive frame rate, full answers on screen and aloud</a:t>
            </a:r>
          </a:p>
          <a:p>
            <a:pPr algn="l"/>
            <a:r>
              <a:rPr sz="1200" b="0">
                <a:solidFill>
                  <a:srgbClr val="EEF2FA"/>
                </a:solidFill>
                <a:latin typeface="Segoe UI"/>
              </a:rPr>
              <a:t>Storage budget with thinning; sensitive scenes are dropped</a:t>
            </a:r>
          </a:p>
          <a:p>
            <a:pPr algn="l"/>
            <a:r>
              <a:rPr sz="1200" b="0">
                <a:solidFill>
                  <a:srgbClr val="EEF2FA"/>
                </a:solidFill>
                <a:latin typeface="Segoe UI"/>
              </a:rPr>
              <a:t>Encrypted pictures and database, keys in the secure hardware, optional app lock</a:t>
            </a:r>
          </a:p>
          <a:p>
            <a:pPr algn="l"/>
            <a:r>
              <a:rPr sz="1200" b="0">
                <a:solidFill>
                  <a:srgbClr val="EEF2FA"/>
                </a:solidFill>
                <a:latin typeface="Segoe UI"/>
              </a:rPr>
              <a:t>Walk guide (MoveSense): steps, gyroscope, compass and GPS lead a person home, with voice, buzz and a path map</a:t>
            </a:r>
          </a:p>
          <a:p>
            <a:pPr algn="l"/>
            <a:r>
              <a:rPr sz="1200" b="0">
                <a:solidFill>
                  <a:srgbClr val="EEF2FA"/>
                </a:solidFill>
                <a:latin typeface="Segoe UI"/>
              </a:rPr>
              <a:t>Replies in the chosen language, light and dark themes, LAN dashboard</a:t>
            </a:r>
          </a:p>
        </p:txBody>
      </p:sp>
      <p:sp>
        <p:nvSpPr>
          <p:cNvPr id="11" name="Rounded Rectangle 10"/>
          <p:cNvSpPr/>
          <p:nvPr/>
        </p:nvSpPr>
        <p:spPr>
          <a:xfrm>
            <a:off x="6172200" y="1691640"/>
            <a:ext cx="5532120" cy="4480560"/>
          </a:xfrm>
          <a:prstGeom prst="roundRect">
            <a:avLst>
              <a:gd name="adj" fmla="val 8000"/>
            </a:avLst>
          </a:prstGeom>
          <a:solidFill>
            <a:srgbClr val="131D30"/>
          </a:solidFill>
          <a:ln w="19050">
            <a:solidFill>
              <a:srgbClr val="F2B84B"/>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r>
              <a:rPr sz="1600" b="1">
                <a:solidFill>
                  <a:srgbClr val="F2B84B"/>
                </a:solidFill>
                <a:latin typeface="Segoe UI"/>
              </a:rPr>
              <a:t>Next</a:t>
            </a:r>
          </a:p>
          <a:p>
            <a:pPr algn="l"/>
            <a:r>
              <a:rPr sz="400" b="0">
                <a:solidFill>
                  <a:srgbClr val="EEF2FA"/>
                </a:solidFill>
                <a:latin typeface="Segoe UI"/>
              </a:rPr>
              <a:t> </a:t>
            </a:r>
          </a:p>
          <a:p>
            <a:pPr algn="l"/>
            <a:r>
              <a:rPr sz="1200" b="0">
                <a:solidFill>
                  <a:srgbClr val="EEF2FA"/>
                </a:solidFill>
                <a:latin typeface="Segoe UI"/>
              </a:rPr>
              <a:t>Walk guide: a real walk outdoors with GPS (only simulated so far), Bluetooth beacons at the door, a caregiver alert when the person leaves a zone</a:t>
            </a:r>
          </a:p>
          <a:p>
            <a:pPr algn="l"/>
            <a:r>
              <a:rPr sz="1200" b="0">
                <a:solidFill>
                  <a:srgbClr val="EEF2FA"/>
                </a:solidFill>
                <a:latin typeface="Segoe UI"/>
              </a:rPr>
              <a:t>Object arrow that also counts the steps you walk</a:t>
            </a:r>
          </a:p>
          <a:p>
            <a:pPr algn="l"/>
            <a:r>
              <a:rPr sz="1200" b="0">
                <a:solidFill>
                  <a:srgbClr val="EEF2FA"/>
                </a:solidFill>
                <a:latin typeface="Segoe UI"/>
              </a:rPr>
              <a:t>Search across all sessions in one question, with time words like "this morning"</a:t>
            </a:r>
          </a:p>
          <a:p>
            <a:pPr algn="l"/>
            <a:r>
              <a:rPr sz="1200" b="0">
                <a:solidFill>
                  <a:srgbClr val="EEF2FA"/>
                </a:solidFill>
                <a:latin typeface="Segoe UI"/>
              </a:rPr>
              <a:t>Home camera: RTSP and ONVIF, several rooms, alerts</a:t>
            </a:r>
          </a:p>
          <a:p>
            <a:pPr algn="l"/>
            <a:r>
              <a:rPr sz="1200" b="0">
                <a:solidFill>
                  <a:srgbClr val="EEF2FA"/>
                </a:solidFill>
                <a:latin typeface="Segoe UI"/>
              </a:rPr>
              <a:t>Auto zoom: digital crop, then the telephoto lens, then look again</a:t>
            </a:r>
          </a:p>
          <a:p>
            <a:pPr algn="l"/>
            <a:r>
              <a:rPr sz="1200" b="0">
                <a:solidFill>
                  <a:srgbClr val="EEF2FA"/>
                </a:solidFill>
                <a:latin typeface="Segoe UI"/>
              </a:rPr>
              <a:t>Sensitive-scene filter checked on real examples by the team</a:t>
            </a:r>
          </a:p>
          <a:p>
            <a:pPr algn="l"/>
            <a:r>
              <a:rPr sz="1200" b="0">
                <a:solidFill>
                  <a:srgbClr val="EEF2FA"/>
                </a:solidFill>
                <a:latin typeface="Segoe UI"/>
              </a:rPr>
              <a:t>Hindi and other UI languages, caregiver companion screen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01C"/>
        </a:solidFill>
        <a:effectLst/>
      </p:bgPr>
    </p:bg>
    <p:spTree>
      <p:nvGrpSpPr>
        <p:cNvPr id="1" name=""/>
        <p:cNvGrpSpPr/>
        <p:nvPr/>
      </p:nvGrpSpPr>
      <p:grpSpPr/>
      <p:sp>
        <p:nvSpPr>
          <p:cNvPr id="2" name="Rectangle 1"/>
          <p:cNvSpPr/>
          <p:nvPr/>
        </p:nvSpPr>
        <p:spPr>
          <a:xfrm>
            <a:off x="731520" y="1280160"/>
            <a:ext cx="457200" cy="91440"/>
          </a:xfrm>
          <a:prstGeom prst="rect">
            <a:avLst/>
          </a:prstGeom>
          <a:solidFill>
            <a:srgbClr val="3B8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8720" y="1280160"/>
            <a:ext cx="457200" cy="91440"/>
          </a:xfrm>
          <a:prstGeom prst="rect">
            <a:avLst/>
          </a:prstGeom>
          <a:solidFill>
            <a:srgbClr val="1E4F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645920" y="1280160"/>
            <a:ext cx="457200" cy="91440"/>
          </a:xfrm>
          <a:prstGeom prst="rect">
            <a:avLst/>
          </a:prstGeom>
          <a:solidFill>
            <a:srgbClr val="E548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10789920" cy="1463040"/>
          </a:xfrm>
          <a:prstGeom prst="rect">
            <a:avLst/>
          </a:prstGeom>
          <a:noFill/>
        </p:spPr>
        <p:txBody>
          <a:bodyPr wrap="square" anchor="t" lIns="0" rIns="0" tIns="36576" bIns="36576">
            <a:spAutoFit/>
          </a:bodyPr>
          <a:lstStyle/>
          <a:p>
            <a:pPr algn="l"/>
            <a:r>
              <a:rPr sz="4000" b="1">
                <a:solidFill>
                  <a:srgbClr val="EEF2FA"/>
                </a:solidFill>
                <a:latin typeface="Segoe UI"/>
              </a:rPr>
              <a:t>Search what you saw, the way you remember it.</a:t>
            </a:r>
          </a:p>
        </p:txBody>
      </p:sp>
      <p:sp>
        <p:nvSpPr>
          <p:cNvPr id="6" name="TextBox 5"/>
          <p:cNvSpPr txBox="1"/>
          <p:nvPr/>
        </p:nvSpPr>
        <p:spPr>
          <a:xfrm>
            <a:off x="731520" y="3108960"/>
            <a:ext cx="10515600" cy="914400"/>
          </a:xfrm>
          <a:prstGeom prst="rect">
            <a:avLst/>
          </a:prstGeom>
          <a:noFill/>
        </p:spPr>
        <p:txBody>
          <a:bodyPr wrap="square" anchor="t" lIns="0" rIns="0" tIns="36576" bIns="36576">
            <a:spAutoFit/>
          </a:bodyPr>
          <a:lstStyle/>
          <a:p>
            <a:pPr algn="l"/>
            <a:r>
              <a:rPr sz="1800" b="0">
                <a:solidFill>
                  <a:srgbClr val="9AABC7"/>
                </a:solidFill>
                <a:latin typeface="Segoe UI"/>
              </a:rPr>
              <a:t>Private because it never leaves the phone. Useful because the answer comes with a picture and a time.</a:t>
            </a:r>
          </a:p>
        </p:txBody>
      </p:sp>
      <p:sp>
        <p:nvSpPr>
          <p:cNvPr id="7" name="Rounded Rectangle 6"/>
          <p:cNvSpPr/>
          <p:nvPr/>
        </p:nvSpPr>
        <p:spPr>
          <a:xfrm>
            <a:off x="731520" y="4297680"/>
            <a:ext cx="3474720" cy="118872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1">
                <a:solidFill>
                  <a:srgbClr val="EEF2FA"/>
                </a:solidFill>
                <a:latin typeface="Segoe UI"/>
              </a:rPr>
              <a:t>Alzheimer's care</a:t>
            </a:r>
          </a:p>
          <a:p>
            <a:pPr algn="l"/>
            <a:r>
              <a:rPr sz="1200" b="0">
                <a:solidFill>
                  <a:srgbClr val="9AABC7"/>
                </a:solidFill>
                <a:latin typeface="Segoe UI"/>
              </a:rPr>
              <a:t>Fewer worried questions, more independence</a:t>
            </a:r>
          </a:p>
        </p:txBody>
      </p:sp>
      <p:sp>
        <p:nvSpPr>
          <p:cNvPr id="8" name="Rounded Rectangle 7"/>
          <p:cNvSpPr/>
          <p:nvPr/>
        </p:nvSpPr>
        <p:spPr>
          <a:xfrm>
            <a:off x="4389120" y="4297680"/>
            <a:ext cx="3474720" cy="118872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1">
                <a:solidFill>
                  <a:srgbClr val="EEF2FA"/>
                </a:solidFill>
                <a:latin typeface="Segoe UI"/>
              </a:rPr>
              <a:t>Home camera search</a:t>
            </a:r>
          </a:p>
          <a:p>
            <a:pPr algn="l"/>
            <a:r>
              <a:rPr sz="1200" b="0">
                <a:solidFill>
                  <a:srgbClr val="9AABC7"/>
                </a:solidFill>
                <a:latin typeface="Segoe UI"/>
              </a:rPr>
              <a:t>Find the moment in seconds, not hours</a:t>
            </a:r>
          </a:p>
        </p:txBody>
      </p:sp>
      <p:sp>
        <p:nvSpPr>
          <p:cNvPr id="9" name="Rounded Rectangle 8"/>
          <p:cNvSpPr/>
          <p:nvPr/>
        </p:nvSpPr>
        <p:spPr>
          <a:xfrm>
            <a:off x="8046720" y="4297680"/>
            <a:ext cx="3474720" cy="1188720"/>
          </a:xfrm>
          <a:prstGeom prst="roundRect">
            <a:avLst>
              <a:gd name="adj" fmla="val 8000"/>
            </a:avLst>
          </a:prstGeom>
          <a:solidFill>
            <a:srgbClr val="131D30"/>
          </a:solidFill>
          <a:ln w="12700">
            <a:solidFill>
              <a:srgbClr val="2C3D5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r>
              <a:rPr sz="1600" b="1">
                <a:solidFill>
                  <a:srgbClr val="EEF2FA"/>
                </a:solidFill>
                <a:latin typeface="Segoe UI"/>
              </a:rPr>
              <a:t>On-device AI</a:t>
            </a:r>
          </a:p>
          <a:p>
            <a:pPr algn="l"/>
            <a:r>
              <a:rPr sz="1200" b="0">
                <a:solidFill>
                  <a:srgbClr val="9AABC7"/>
                </a:solidFill>
                <a:latin typeface="Segoe UI"/>
              </a:rPr>
              <a:t>NPU + GPU, no cloud, no account</a:t>
            </a:r>
          </a:p>
        </p:txBody>
      </p:sp>
      <p:sp>
        <p:nvSpPr>
          <p:cNvPr id="10" name="TextBox 9"/>
          <p:cNvSpPr txBox="1"/>
          <p:nvPr/>
        </p:nvSpPr>
        <p:spPr>
          <a:xfrm>
            <a:off x="731520" y="6035040"/>
            <a:ext cx="10515600" cy="365760"/>
          </a:xfrm>
          <a:prstGeom prst="rect">
            <a:avLst/>
          </a:prstGeom>
          <a:noFill/>
        </p:spPr>
        <p:txBody>
          <a:bodyPr wrap="square" anchor="t" lIns="0" rIns="0" tIns="36576" bIns="36576">
            <a:spAutoFit/>
          </a:bodyPr>
          <a:lstStyle/>
          <a:p>
            <a:pPr algn="l"/>
            <a:r>
              <a:rPr sz="1200" b="0">
                <a:solidFill>
                  <a:srgbClr val="9AABC7"/>
                </a:solidFill>
                <a:latin typeface="Segoe UI"/>
              </a:rPr>
              <a:t>Smriti  |  iQOO hackathon  |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